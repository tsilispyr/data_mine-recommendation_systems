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1"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892CC4B-D5DC-4744-B7A8-90F9700486B0}">
          <p14:sldIdLst>
            <p14:sldId id="256"/>
            <p14:sldId id="257"/>
            <p14:sldId id="259"/>
            <p14:sldId id="260"/>
            <p14:sldId id="261"/>
            <p14:sldId id="262"/>
            <p14:sldId id="263"/>
            <p14:sldId id="264"/>
            <p14:sldId id="265"/>
            <p14:sldId id="266"/>
            <p14:sldId id="267"/>
            <p14:sldId id="268"/>
            <p14:sldId id="269"/>
            <p14:sldId id="271"/>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660"/>
  </p:normalViewPr>
  <p:slideViewPr>
    <p:cSldViewPr snapToGrid="0">
      <p:cViewPr varScale="1">
        <p:scale>
          <a:sx n="82" d="100"/>
          <a:sy n="82" d="100"/>
        </p:scale>
        <p:origin x="7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85489CE-D045-48E8-8D24-9F40023E4B69}"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514246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5489CE-D045-48E8-8D24-9F40023E4B69}"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3488976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5489CE-D045-48E8-8D24-9F40023E4B69}"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2538471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5489CE-D045-48E8-8D24-9F40023E4B69}"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304589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5489CE-D045-48E8-8D24-9F40023E4B69}"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1650975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5489CE-D045-48E8-8D24-9F40023E4B69}"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1481727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5489CE-D045-48E8-8D24-9F40023E4B69}"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994828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85489CE-D045-48E8-8D24-9F40023E4B69}"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1675076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85489CE-D045-48E8-8D24-9F40023E4B69}"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558114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5489CE-D045-48E8-8D24-9F40023E4B69}"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1775663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5489CE-D045-48E8-8D24-9F40023E4B69}"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E5D7F-B89E-46C4-B5F8-529129FB6826}" type="slidenum">
              <a:rPr lang="en-US" smtClean="0"/>
              <a:t>‹#›</a:t>
            </a:fld>
            <a:endParaRPr lang="en-US"/>
          </a:p>
        </p:txBody>
      </p:sp>
    </p:spTree>
    <p:extLst>
      <p:ext uri="{BB962C8B-B14F-4D97-AF65-F5344CB8AC3E}">
        <p14:creationId xmlns:p14="http://schemas.microsoft.com/office/powerpoint/2010/main" val="9059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5489CE-D045-48E8-8D24-9F40023E4B69}" type="datetimeFigureOut">
              <a:rPr lang="en-US" smtClean="0"/>
              <a:t>3/11/2026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E5D7F-B89E-46C4-B5F8-529129FB6826}" type="slidenum">
              <a:rPr lang="en-US" smtClean="0"/>
              <a:t>‹#›</a:t>
            </a:fld>
            <a:endParaRPr lang="en-US"/>
          </a:p>
        </p:txBody>
      </p:sp>
    </p:spTree>
    <p:extLst>
      <p:ext uri="{BB962C8B-B14F-4D97-AF65-F5344CB8AC3E}">
        <p14:creationId xmlns:p14="http://schemas.microsoft.com/office/powerpoint/2010/main" val="3096944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184030" y="1502688"/>
            <a:ext cx="7823937" cy="5355312"/>
          </a:xfrm>
          <a:prstGeom prst="rect">
            <a:avLst/>
          </a:prstGeom>
          <a:noFill/>
        </p:spPr>
        <p:txBody>
          <a:bodyPr wrap="none" rtlCol="0">
            <a:spAutoFit/>
          </a:bodyPr>
          <a:lstStyle/>
          <a:p>
            <a:pPr algn="ctr"/>
            <a:r>
              <a:rPr lang="el-GR" b="1" dirty="0">
                <a:effectLst>
                  <a:outerShdw blurRad="38100" dist="38100" dir="2700000" algn="tl">
                    <a:srgbClr val="000000">
                      <a:alpha val="43137"/>
                    </a:srgbClr>
                  </a:outerShdw>
                </a:effectLst>
              </a:rPr>
              <a:t>Εξόρυξη Δεδομένων και Συστήματα Συστάσεων</a:t>
            </a:r>
          </a:p>
          <a:p>
            <a:pPr algn="ctr"/>
            <a:r>
              <a:rPr lang="el-GR" b="1" dirty="0">
                <a:effectLst>
                  <a:outerShdw blurRad="38100" dist="38100" dir="2700000" algn="tl">
                    <a:srgbClr val="000000">
                      <a:alpha val="43137"/>
                    </a:srgbClr>
                  </a:outerShdw>
                </a:effectLst>
              </a:rPr>
              <a:t>Εργασία Χειμερινού Εξαμήνου 2025</a:t>
            </a:r>
          </a:p>
          <a:p>
            <a:pPr algn="ctr"/>
            <a:endParaRPr lang="el-GR" dirty="0"/>
          </a:p>
          <a:p>
            <a:pPr algn="ctr"/>
            <a:endParaRPr lang="el-GR" dirty="0"/>
          </a:p>
          <a:p>
            <a:pPr algn="ctr"/>
            <a:endParaRPr lang="el-GR" dirty="0"/>
          </a:p>
          <a:p>
            <a:pPr algn="ctr"/>
            <a:endParaRPr lang="el-GR" dirty="0"/>
          </a:p>
          <a:p>
            <a:pPr algn="ctr"/>
            <a:r>
              <a:rPr lang="el-GR" b="1" i="1" spc="300" dirty="0">
                <a:effectLst>
                  <a:outerShdw blurRad="38100" dist="38100" dir="2700000" algn="tl">
                    <a:srgbClr val="000000">
                      <a:alpha val="43137"/>
                    </a:srgbClr>
                  </a:outerShdw>
                </a:effectLst>
              </a:rPr>
              <a:t>Πρόβλεψη Επιβατικής Κίνησης (Classification 5 Κλάσεων)</a:t>
            </a:r>
          </a:p>
          <a:p>
            <a:pPr algn="ctr"/>
            <a:endParaRPr lang="el-GR" dirty="0"/>
          </a:p>
          <a:p>
            <a:pPr algn="ctr"/>
            <a:endParaRPr lang="el-GR" dirty="0"/>
          </a:p>
          <a:p>
            <a:pPr algn="ctr"/>
            <a:endParaRPr lang="el-GR" dirty="0"/>
          </a:p>
          <a:p>
            <a:pPr algn="ctr"/>
            <a:r>
              <a:rPr lang="el-GR" b="1" u="sng" dirty="0"/>
              <a:t>Τσιλιμπώκος Σπυρίδων </a:t>
            </a:r>
            <a:r>
              <a:rPr lang="en-US" b="1" u="sng" dirty="0"/>
              <a:t>ais25118</a:t>
            </a:r>
            <a:endParaRPr lang="el-GR" b="1" u="sng" dirty="0"/>
          </a:p>
          <a:p>
            <a:pPr algn="ctr"/>
            <a:endParaRPr lang="el-GR" dirty="0"/>
          </a:p>
          <a:p>
            <a:pPr algn="ctr"/>
            <a:endParaRPr lang="el-GR" dirty="0"/>
          </a:p>
          <a:p>
            <a:pPr algn="ctr"/>
            <a:endParaRPr lang="el-GR" dirty="0"/>
          </a:p>
          <a:p>
            <a:pPr algn="ctr"/>
            <a:endParaRPr lang="el-GR" dirty="0"/>
          </a:p>
          <a:p>
            <a:pPr algn="ctr"/>
            <a:endParaRPr lang="el-GR" dirty="0"/>
          </a:p>
          <a:p>
            <a:pPr algn="ctr"/>
            <a:endParaRPr lang="el-GR" dirty="0"/>
          </a:p>
          <a:p>
            <a:pPr algn="ctr"/>
            <a:endParaRPr lang="el-GR" dirty="0"/>
          </a:p>
          <a:p>
            <a:endParaRPr lang="en-US" dirty="0"/>
          </a:p>
        </p:txBody>
      </p:sp>
    </p:spTree>
    <p:extLst>
      <p:ext uri="{BB962C8B-B14F-4D97-AF65-F5344CB8AC3E}">
        <p14:creationId xmlns:p14="http://schemas.microsoft.com/office/powerpoint/2010/main" val="2390998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1586" y="180201"/>
            <a:ext cx="3853619" cy="369332"/>
          </a:xfrm>
          <a:prstGeom prst="rect">
            <a:avLst/>
          </a:prstGeom>
        </p:spPr>
        <p:txBody>
          <a:bodyPr wrap="none">
            <a:spAutoFit/>
          </a:bodyPr>
          <a:lstStyle/>
          <a:p>
            <a:r>
              <a:rPr lang="el-GR" b="1" i="1" dirty="0">
                <a:effectLst>
                  <a:outerShdw blurRad="38100" dist="38100" dir="2700000" algn="tl">
                    <a:srgbClr val="000000">
                      <a:alpha val="43137"/>
                    </a:srgbClr>
                  </a:outerShdw>
                </a:effectLst>
              </a:rPr>
              <a:t>Προετοιμασία Δεδομένων (</a:t>
            </a:r>
            <a:r>
              <a:rPr lang="en-US" b="1" i="1" dirty="0">
                <a:effectLst>
                  <a:outerShdw blurRad="38100" dist="38100" dir="2700000" algn="tl">
                    <a:srgbClr val="000000">
                      <a:alpha val="43137"/>
                    </a:srgbClr>
                  </a:outerShdw>
                </a:effectLst>
              </a:rPr>
              <a:t>Data Prep)</a:t>
            </a:r>
          </a:p>
        </p:txBody>
      </p:sp>
      <p:pic>
        <p:nvPicPr>
          <p:cNvPr id="5" name="Picture 4"/>
          <p:cNvPicPr/>
          <p:nvPr/>
        </p:nvPicPr>
        <p:blipFill>
          <a:blip r:embed="rId4"/>
          <a:stretch>
            <a:fillRect/>
          </a:stretch>
        </p:blipFill>
        <p:spPr>
          <a:xfrm>
            <a:off x="200310" y="615698"/>
            <a:ext cx="5943600" cy="2068830"/>
          </a:xfrm>
          <a:prstGeom prst="rect">
            <a:avLst/>
          </a:prstGeom>
        </p:spPr>
      </p:pic>
      <p:sp>
        <p:nvSpPr>
          <p:cNvPr id="12" name="TextBox 11"/>
          <p:cNvSpPr txBox="1"/>
          <p:nvPr/>
        </p:nvSpPr>
        <p:spPr>
          <a:xfrm>
            <a:off x="6500769" y="451028"/>
            <a:ext cx="5525623" cy="2308324"/>
          </a:xfrm>
          <a:prstGeom prst="rect">
            <a:avLst/>
          </a:prstGeom>
          <a:noFill/>
        </p:spPr>
        <p:txBody>
          <a:bodyPr wrap="square" rtlCol="0">
            <a:spAutoFit/>
          </a:bodyPr>
          <a:lstStyle/>
          <a:p>
            <a:r>
              <a:rPr lang="el-GR" dirty="0"/>
              <a:t>•</a:t>
            </a:r>
            <a:r>
              <a:rPr lang="el-GR" i="1" dirty="0">
                <a:solidFill>
                  <a:schemeClr val="accent2">
                    <a:lumMod val="75000"/>
                  </a:schemeClr>
                </a:solidFill>
              </a:rPr>
              <a:t>Κόμβοι</a:t>
            </a:r>
            <a:r>
              <a:rPr lang="el-GR" dirty="0"/>
              <a:t>: CSV Reader (x2) → Joiner.</a:t>
            </a:r>
          </a:p>
          <a:p>
            <a:r>
              <a:rPr lang="el-GR" dirty="0"/>
              <a:t>•</a:t>
            </a:r>
            <a:r>
              <a:rPr lang="el-GR" i="1" dirty="0">
                <a:solidFill>
                  <a:schemeClr val="accent4">
                    <a:lumMod val="75000"/>
                  </a:schemeClr>
                </a:solidFill>
              </a:rPr>
              <a:t>Φόρτωση</a:t>
            </a:r>
            <a:r>
              <a:rPr lang="el-GR" dirty="0"/>
              <a:t> των δύο διαφορετικών </a:t>
            </a:r>
            <a:r>
              <a:rPr lang="el-GR" dirty="0">
                <a:solidFill>
                  <a:schemeClr val="accent4">
                    <a:lumMod val="75000"/>
                  </a:schemeClr>
                </a:solidFill>
              </a:rPr>
              <a:t>αρχείων</a:t>
            </a:r>
            <a:r>
              <a:rPr lang="el-GR" dirty="0"/>
              <a:t> (Passengers και Landings) και </a:t>
            </a:r>
            <a:r>
              <a:rPr lang="el-GR" dirty="0">
                <a:solidFill>
                  <a:schemeClr val="accent4">
                    <a:lumMod val="75000"/>
                  </a:schemeClr>
                </a:solidFill>
              </a:rPr>
              <a:t>συνένωση</a:t>
            </a:r>
            <a:r>
              <a:rPr lang="el-GR" dirty="0"/>
              <a:t>.</a:t>
            </a:r>
          </a:p>
          <a:p>
            <a:r>
              <a:rPr lang="el-GR" dirty="0"/>
              <a:t>•Η </a:t>
            </a:r>
            <a:r>
              <a:rPr lang="el-GR" i="1" dirty="0">
                <a:solidFill>
                  <a:srgbClr val="00B050"/>
                </a:solidFill>
              </a:rPr>
              <a:t>Λογική</a:t>
            </a:r>
            <a:r>
              <a:rPr lang="el-GR" dirty="0"/>
              <a:t>: Ο εμπλουτισμός των δεδομένων επιβατών με στοιχεία προσγειώσεων (Landings) προσθέτει επιπλέον πληροφορία (Features), βοηθώντας τους αλγορίθμους να βρουν συσχετίσεις που αλλιώς θα χάνονταν.</a:t>
            </a:r>
          </a:p>
          <a:p>
            <a:endParaRPr lang="en-US" dirty="0"/>
          </a:p>
        </p:txBody>
      </p:sp>
      <p:sp>
        <p:nvSpPr>
          <p:cNvPr id="13" name="TextBox 12"/>
          <p:cNvSpPr txBox="1"/>
          <p:nvPr/>
        </p:nvSpPr>
        <p:spPr>
          <a:xfrm>
            <a:off x="657226" y="2825517"/>
            <a:ext cx="7889735" cy="3539430"/>
          </a:xfrm>
          <a:prstGeom prst="rect">
            <a:avLst/>
          </a:prstGeom>
          <a:noFill/>
        </p:spPr>
        <p:txBody>
          <a:bodyPr wrap="square" rtlCol="0">
            <a:spAutoFit/>
          </a:bodyPr>
          <a:lstStyle/>
          <a:p>
            <a:r>
              <a:rPr lang="el-GR" sz="1400" dirty="0">
                <a:solidFill>
                  <a:schemeClr val="accent5">
                    <a:lumMod val="75000"/>
                  </a:schemeClr>
                </a:solidFill>
              </a:rPr>
              <a:t>Καθαρισμός Δεδομένων (Data Cleaning) </a:t>
            </a:r>
          </a:p>
          <a:p>
            <a:r>
              <a:rPr lang="el-GR" sz="1400" dirty="0"/>
              <a:t>Εδώ εξασφαλίζεται η ποιότητα των δεδομένων ("Garbage In, Garbage Out").</a:t>
            </a:r>
          </a:p>
          <a:p>
            <a:pPr marL="342900" indent="-342900">
              <a:buFont typeface="+mj-lt"/>
              <a:buAutoNum type="arabicPeriod"/>
            </a:pPr>
            <a:r>
              <a:rPr lang="el-GR" sz="1400" dirty="0">
                <a:solidFill>
                  <a:schemeClr val="accent1"/>
                </a:solidFill>
              </a:rPr>
              <a:t>Duplicate Row Filter:</a:t>
            </a:r>
          </a:p>
          <a:p>
            <a:pPr marL="742950" lvl="1" indent="-285750">
              <a:buFont typeface="Arial" panose="020B0604020202020204" pitchFamily="34" charset="0"/>
              <a:buChar char="•"/>
            </a:pPr>
            <a:r>
              <a:rPr lang="el-GR" sz="1400" dirty="0"/>
              <a:t>Αφαίρεση διπλότυπων εγγραφών.</a:t>
            </a:r>
          </a:p>
          <a:p>
            <a:pPr marL="742950" lvl="1" indent="-285750">
              <a:buFont typeface="Arial" panose="020B0604020202020204" pitchFamily="34" charset="0"/>
              <a:buChar char="•"/>
            </a:pPr>
            <a:r>
              <a:rPr lang="el-GR" sz="1400" dirty="0"/>
              <a:t>Οι διπλές εγγραφές θα αλλοίωναν τη στατιστική βαρύτητα ορισμένων πτήσεων, οδηγώντας σε μεροληπτικά αποτελέσματα (Bias).</a:t>
            </a:r>
          </a:p>
          <a:p>
            <a:pPr marL="342900" indent="-342900">
              <a:buFont typeface="+mj-lt"/>
              <a:buAutoNum type="arabicPeriod"/>
            </a:pPr>
            <a:r>
              <a:rPr lang="el-GR" sz="1400" dirty="0">
                <a:solidFill>
                  <a:schemeClr val="accent2">
                    <a:lumMod val="75000"/>
                  </a:schemeClr>
                </a:solidFill>
              </a:rPr>
              <a:t>Missing Value:</a:t>
            </a:r>
          </a:p>
          <a:p>
            <a:pPr marL="742950" lvl="1" indent="-285750">
              <a:buFont typeface="Arial" panose="020B0604020202020204" pitchFamily="34" charset="0"/>
              <a:buChar char="•"/>
            </a:pPr>
            <a:r>
              <a:rPr lang="el-GR" sz="1400" dirty="0"/>
              <a:t>Αντικατάσταση ελλείψεων με Median (για αριθμούς) και Most Frequent (για κατηγορίες).</a:t>
            </a:r>
          </a:p>
          <a:p>
            <a:pPr marL="742950" lvl="1" indent="-285750">
              <a:buFont typeface="Arial" panose="020B0604020202020204" pitchFamily="34" charset="0"/>
              <a:buChar char="•"/>
            </a:pPr>
            <a:r>
              <a:rPr lang="el-GR" sz="1400" dirty="0"/>
              <a:t>Επιλέχθηκε η διάμεσος (Median) αντί του μέσου όρου, διότι είναι πιο ανθεκτική στις ακραίες τιμές (outliers).</a:t>
            </a:r>
          </a:p>
          <a:p>
            <a:pPr marL="342900" indent="-342900">
              <a:buFont typeface="+mj-lt"/>
              <a:buAutoNum type="arabicPeriod"/>
            </a:pPr>
            <a:r>
              <a:rPr lang="el-GR" sz="1400" dirty="0">
                <a:solidFill>
                  <a:schemeClr val="bg2">
                    <a:lumMod val="50000"/>
                  </a:schemeClr>
                </a:solidFill>
              </a:rPr>
              <a:t>Numeric Outliers:</a:t>
            </a:r>
          </a:p>
          <a:p>
            <a:pPr marL="742950" lvl="1" indent="-285750">
              <a:buFont typeface="Arial" panose="020B0604020202020204" pitchFamily="34" charset="0"/>
              <a:buChar char="•"/>
            </a:pPr>
            <a:r>
              <a:rPr lang="el-GR" sz="1400" dirty="0"/>
              <a:t>Αφαίρεση ακραίων τιμών (π.χ. πτήσεις με μηδενικό βάρος ή παράλογα νούμερα), εξαιρώντας το "Activity Period" (καθώς η ημερομηνία δεν έχει "outliers" με τη μαθηματική έννοια).</a:t>
            </a:r>
          </a:p>
          <a:p>
            <a:pPr marL="742950" lvl="1" indent="-285750">
              <a:buFont typeface="Arial" panose="020B0604020202020204" pitchFamily="34" charset="0"/>
              <a:buChar char="•"/>
            </a:pPr>
            <a:r>
              <a:rPr lang="el-GR" sz="1400" dirty="0"/>
              <a:t>Οι ακραίες τιμές (θόρυβος) μπερδεύουν τους αλγορίθμους, ειδικά αυτούς που βασίζονται σε αποστάσεις (όπως ο KNN και το SVM) και τον Μέσο Όρο.</a:t>
            </a:r>
          </a:p>
          <a:p>
            <a:endParaRPr lang="en-US" sz="1400" dirty="0"/>
          </a:p>
        </p:txBody>
      </p:sp>
      <p:sp>
        <p:nvSpPr>
          <p:cNvPr id="15" name="Oval 14"/>
          <p:cNvSpPr/>
          <p:nvPr/>
        </p:nvSpPr>
        <p:spPr>
          <a:xfrm>
            <a:off x="241586" y="853403"/>
            <a:ext cx="415640" cy="142875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748485" y="1325806"/>
            <a:ext cx="311965" cy="416597"/>
          </a:xfrm>
          <a:prstGeom prst="ellipse">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248626" y="1198911"/>
            <a:ext cx="523024" cy="54349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866997" y="990612"/>
            <a:ext cx="523024" cy="543492"/>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458397" y="1198911"/>
            <a:ext cx="523024" cy="54349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461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1586" y="180201"/>
            <a:ext cx="3853619" cy="369332"/>
          </a:xfrm>
          <a:prstGeom prst="rect">
            <a:avLst/>
          </a:prstGeom>
        </p:spPr>
        <p:txBody>
          <a:bodyPr wrap="none">
            <a:spAutoFit/>
          </a:bodyPr>
          <a:lstStyle/>
          <a:p>
            <a:r>
              <a:rPr lang="el-GR" b="1" i="1" dirty="0">
                <a:effectLst>
                  <a:outerShdw blurRad="38100" dist="38100" dir="2700000" algn="tl">
                    <a:srgbClr val="000000">
                      <a:alpha val="43137"/>
                    </a:srgbClr>
                  </a:outerShdw>
                </a:effectLst>
              </a:rPr>
              <a:t>Προετοιμασία Δεδομένων (</a:t>
            </a:r>
            <a:r>
              <a:rPr lang="en-US" b="1" i="1" dirty="0">
                <a:effectLst>
                  <a:outerShdw blurRad="38100" dist="38100" dir="2700000" algn="tl">
                    <a:srgbClr val="000000">
                      <a:alpha val="43137"/>
                    </a:srgbClr>
                  </a:outerShdw>
                </a:effectLst>
              </a:rPr>
              <a:t>Data Prep)</a:t>
            </a:r>
          </a:p>
        </p:txBody>
      </p:sp>
      <p:pic>
        <p:nvPicPr>
          <p:cNvPr id="5" name="Picture 4"/>
          <p:cNvPicPr/>
          <p:nvPr/>
        </p:nvPicPr>
        <p:blipFill>
          <a:blip r:embed="rId4"/>
          <a:stretch>
            <a:fillRect/>
          </a:stretch>
        </p:blipFill>
        <p:spPr>
          <a:xfrm>
            <a:off x="200310" y="615698"/>
            <a:ext cx="5943600" cy="2068830"/>
          </a:xfrm>
          <a:prstGeom prst="rect">
            <a:avLst/>
          </a:prstGeom>
        </p:spPr>
      </p:pic>
      <p:sp>
        <p:nvSpPr>
          <p:cNvPr id="2" name="TextBox 1"/>
          <p:cNvSpPr txBox="1"/>
          <p:nvPr/>
        </p:nvSpPr>
        <p:spPr>
          <a:xfrm>
            <a:off x="608330" y="2684528"/>
            <a:ext cx="9875069" cy="3693319"/>
          </a:xfrm>
          <a:prstGeom prst="rect">
            <a:avLst/>
          </a:prstGeom>
          <a:noFill/>
        </p:spPr>
        <p:txBody>
          <a:bodyPr wrap="square" rtlCol="0">
            <a:spAutoFit/>
          </a:bodyPr>
          <a:lstStyle/>
          <a:p>
            <a:r>
              <a:rPr lang="el-GR" dirty="0"/>
              <a:t>Μηχανική Χαρακτηριστικών (Feature Engineering) </a:t>
            </a:r>
          </a:p>
          <a:p>
            <a:r>
              <a:rPr lang="el-GR" dirty="0"/>
              <a:t>Εδώ μετατρέψαμε τα δεδομένα στη μορφή που ζητάει η άσκηση.</a:t>
            </a:r>
          </a:p>
          <a:p>
            <a:pPr marL="342900" indent="-342900">
              <a:buFont typeface="+mj-lt"/>
              <a:buAutoNum type="arabicPeriod"/>
            </a:pPr>
            <a:r>
              <a:rPr lang="el-GR" dirty="0">
                <a:solidFill>
                  <a:schemeClr val="accent6">
                    <a:lumMod val="75000"/>
                  </a:schemeClr>
                </a:solidFill>
              </a:rPr>
              <a:t>Numeric Binner:</a:t>
            </a:r>
          </a:p>
          <a:p>
            <a:pPr marL="742950" lvl="1" indent="-285750">
              <a:buFont typeface="Arial" panose="020B0604020202020204" pitchFamily="34" charset="0"/>
              <a:buChar char="•"/>
            </a:pPr>
            <a:r>
              <a:rPr lang="el-GR" dirty="0"/>
              <a:t>Μετατροπή της στήλης Passenger Count σε 5 Κλάσεις (A, B, C, D, E) βάσει των ορίων της εκφώνησης.</a:t>
            </a:r>
          </a:p>
          <a:p>
            <a:pPr marL="742950" lvl="1" indent="-285750">
              <a:buFont typeface="Arial" panose="020B0604020202020204" pitchFamily="34" charset="0"/>
              <a:buChar char="•"/>
            </a:pPr>
            <a:r>
              <a:rPr lang="el-GR" dirty="0"/>
              <a:t>Μετατροπή του προβλήματος από Regression (πρόβλεψη αριθμού) σε Classification (πρόβλεψη κατηγορίας), όπως απαιτούσε η εργασία.</a:t>
            </a:r>
          </a:p>
          <a:p>
            <a:pPr marL="342900" indent="-342900">
              <a:buFont typeface="+mj-lt"/>
              <a:buAutoNum type="arabicPeriod"/>
            </a:pPr>
            <a:r>
              <a:rPr lang="el-GR" dirty="0">
                <a:solidFill>
                  <a:srgbClr val="C00000"/>
                </a:solidFill>
              </a:rPr>
              <a:t>Column Filter:</a:t>
            </a:r>
          </a:p>
          <a:p>
            <a:pPr marL="742950" lvl="1" indent="-285750">
              <a:buFont typeface="Arial" panose="020B0604020202020204" pitchFamily="34" charset="0"/>
              <a:buChar char="•"/>
            </a:pPr>
            <a:r>
              <a:rPr lang="el-GR" dirty="0"/>
              <a:t>Διαγραφή της στήλης Passenger Count (αριθμός).</a:t>
            </a:r>
          </a:p>
          <a:p>
            <a:pPr marL="742950" lvl="1" indent="-285750">
              <a:buFont typeface="Arial" panose="020B0604020202020204" pitchFamily="34" charset="0"/>
              <a:buChar char="•"/>
            </a:pPr>
            <a:r>
              <a:rPr lang="el-GR" dirty="0"/>
              <a:t>Αποφυγή του Data Leakage (Διαρροή Δεδομένων). Αν αφήναμε τον αριθμό επιβατών μέσα, το μοντέλο θα "έκλεβε" (θα έβλεπε 150 επιβάτες και θα ήξερε αμέσως ότι είναι Class E) και θα είχε 100% ακρίβεια πλασματικά.</a:t>
            </a:r>
          </a:p>
          <a:p>
            <a:endParaRPr lang="en-US" dirty="0"/>
          </a:p>
        </p:txBody>
      </p:sp>
      <p:sp>
        <p:nvSpPr>
          <p:cNvPr id="3" name="Oval 2"/>
          <p:cNvSpPr/>
          <p:nvPr/>
        </p:nvSpPr>
        <p:spPr>
          <a:xfrm>
            <a:off x="2941320" y="995176"/>
            <a:ext cx="534307" cy="4145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470938" y="1210314"/>
            <a:ext cx="534307" cy="4145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1056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0"/>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1586" y="180201"/>
            <a:ext cx="3853619" cy="369332"/>
          </a:xfrm>
          <a:prstGeom prst="rect">
            <a:avLst/>
          </a:prstGeom>
        </p:spPr>
        <p:txBody>
          <a:bodyPr wrap="none">
            <a:spAutoFit/>
          </a:bodyPr>
          <a:lstStyle/>
          <a:p>
            <a:r>
              <a:rPr lang="el-GR" b="1" i="1" dirty="0">
                <a:effectLst>
                  <a:outerShdw blurRad="38100" dist="38100" dir="2700000" algn="tl">
                    <a:srgbClr val="000000">
                      <a:alpha val="43137"/>
                    </a:srgbClr>
                  </a:outerShdw>
                </a:effectLst>
              </a:rPr>
              <a:t>Προετοιμασία Δεδομένων (</a:t>
            </a:r>
            <a:r>
              <a:rPr lang="en-US" b="1" i="1" dirty="0">
                <a:effectLst>
                  <a:outerShdw blurRad="38100" dist="38100" dir="2700000" algn="tl">
                    <a:srgbClr val="000000">
                      <a:alpha val="43137"/>
                    </a:srgbClr>
                  </a:outerShdw>
                </a:effectLst>
              </a:rPr>
              <a:t>Data Prep)</a:t>
            </a:r>
          </a:p>
        </p:txBody>
      </p:sp>
      <p:pic>
        <p:nvPicPr>
          <p:cNvPr id="5" name="Picture 4"/>
          <p:cNvPicPr/>
          <p:nvPr/>
        </p:nvPicPr>
        <p:blipFill rotWithShape="1">
          <a:blip r:embed="rId4"/>
          <a:srcRect b="18579"/>
          <a:stretch/>
        </p:blipFill>
        <p:spPr>
          <a:xfrm>
            <a:off x="4735830" y="137394"/>
            <a:ext cx="7132320" cy="2024781"/>
          </a:xfrm>
          <a:prstGeom prst="rect">
            <a:avLst/>
          </a:prstGeom>
        </p:spPr>
      </p:pic>
      <p:sp>
        <p:nvSpPr>
          <p:cNvPr id="7" name="TextBox 6"/>
          <p:cNvSpPr txBox="1"/>
          <p:nvPr/>
        </p:nvSpPr>
        <p:spPr>
          <a:xfrm>
            <a:off x="241586" y="1961055"/>
            <a:ext cx="10824942" cy="4247317"/>
          </a:xfrm>
          <a:prstGeom prst="rect">
            <a:avLst/>
          </a:prstGeom>
          <a:noFill/>
        </p:spPr>
        <p:txBody>
          <a:bodyPr wrap="square" rtlCol="0">
            <a:spAutoFit/>
          </a:bodyPr>
          <a:lstStyle/>
          <a:p>
            <a:r>
              <a:rPr lang="el-GR" dirty="0"/>
              <a:t>Προετοιμασία για Εκπαίδευση (Partitioning) </a:t>
            </a:r>
          </a:p>
          <a:p>
            <a:pPr marL="342900" indent="-342900">
              <a:buFont typeface="+mj-lt"/>
              <a:buAutoNum type="arabicPeriod"/>
            </a:pPr>
            <a:r>
              <a:rPr lang="el-GR" dirty="0">
                <a:solidFill>
                  <a:schemeClr val="accent4">
                    <a:lumMod val="60000"/>
                    <a:lumOff val="40000"/>
                  </a:schemeClr>
                </a:solidFill>
              </a:rPr>
              <a:t>Domain Calculator:</a:t>
            </a:r>
          </a:p>
          <a:p>
            <a:pPr marL="742950" lvl="1" indent="-285750">
              <a:buFont typeface="Arial" panose="020B0604020202020204" pitchFamily="34" charset="0"/>
              <a:buChar char="•"/>
            </a:pPr>
            <a:r>
              <a:rPr lang="el-GR" dirty="0"/>
              <a:t>Επαναϋπολογισμός των πιθανών τιμών για κάθε στήλη.</a:t>
            </a:r>
          </a:p>
          <a:p>
            <a:pPr marL="742950" lvl="1" indent="-285750">
              <a:buFont typeface="Arial" panose="020B0604020202020204" pitchFamily="34" charset="0"/>
              <a:buChar char="•"/>
            </a:pPr>
            <a:r>
              <a:rPr lang="el-GR" dirty="0"/>
              <a:t>Απαραίτητο στο KNIME μετά από φιλτραρίσματα, για να ξέρουν οι αλγόριθμοι ότι π.χ. η κλάση "F" δεν υπάρχει πια, ώστε να μην την ψάχνουν.</a:t>
            </a:r>
          </a:p>
          <a:p>
            <a:pPr marL="342900" indent="-342900">
              <a:buFont typeface="+mj-lt"/>
              <a:buAutoNum type="arabicPeriod"/>
            </a:pPr>
            <a:r>
              <a:rPr lang="el-GR" dirty="0">
                <a:solidFill>
                  <a:schemeClr val="tx2">
                    <a:lumMod val="60000"/>
                    <a:lumOff val="40000"/>
                  </a:schemeClr>
                </a:solidFill>
              </a:rPr>
              <a:t>Row Sampler (Stratified Sampling):</a:t>
            </a:r>
          </a:p>
          <a:p>
            <a:pPr marL="742950" lvl="1" indent="-285750">
              <a:buFont typeface="Arial" panose="020B0604020202020204" pitchFamily="34" charset="0"/>
              <a:buChar char="•"/>
            </a:pPr>
            <a:r>
              <a:rPr lang="el-GR" dirty="0"/>
              <a:t>Διαχωρισμός του 70% των δεδομένων για Training με Στρωματοποίηση (Stratified) βάσει της Κλάσης Επιβατών.</a:t>
            </a:r>
          </a:p>
          <a:p>
            <a:pPr marL="742950" lvl="1" indent="-285750">
              <a:buFont typeface="Arial" panose="020B0604020202020204" pitchFamily="34" charset="0"/>
              <a:buChar char="•"/>
            </a:pPr>
            <a:r>
              <a:rPr lang="el-GR" dirty="0"/>
              <a:t>Η στρωματοποίηση είναι κρίσιμη. Εξασφαλίζει ότι αν στο αρχικό αρχείο το 10% των πτήσεων είναι "Class A", τότε και στο Training set το 10% θα είναι "Class A". Έτσι το μοντέλο μαθαίνει όλες τις κατηγορίες σωστά.</a:t>
            </a:r>
          </a:p>
          <a:p>
            <a:pPr marL="342900" indent="-342900">
              <a:buFont typeface="+mj-lt"/>
              <a:buAutoNum type="arabicPeriod"/>
            </a:pPr>
            <a:r>
              <a:rPr lang="el-GR" dirty="0">
                <a:solidFill>
                  <a:schemeClr val="accent2">
                    <a:lumMod val="60000"/>
                    <a:lumOff val="40000"/>
                  </a:schemeClr>
                </a:solidFill>
              </a:rPr>
              <a:t>Reference Row Filter (Για το Test Set):</a:t>
            </a:r>
          </a:p>
          <a:p>
            <a:pPr marL="742950" lvl="1" indent="-285750">
              <a:buFont typeface="Arial" panose="020B0604020202020204" pitchFamily="34" charset="0"/>
              <a:buChar char="•"/>
            </a:pPr>
            <a:r>
              <a:rPr lang="el-GR" dirty="0"/>
              <a:t>Παίρνει όλα τα δεδομένα και "αφαιρεί" αυτά που πήγαν στο Training (βάσει RowID). Ό,τι περισσεύει είναι το Test Set (30%). Είναι ένας πολύ ασφαλής τρόπος (αν και λίγο πιο πολύπλοκος από τον κόμβο Partitioning) για να είμαστε 100% σίγουροι ότι το Test Set είναι το ακριβές συμπλήρωμα του Training Set. </a:t>
            </a:r>
            <a:endParaRPr lang="en-US" dirty="0"/>
          </a:p>
        </p:txBody>
      </p:sp>
      <p:sp>
        <p:nvSpPr>
          <p:cNvPr id="8" name="Oval 7"/>
          <p:cNvSpPr/>
          <p:nvPr/>
        </p:nvSpPr>
        <p:spPr>
          <a:xfrm>
            <a:off x="9116965" y="289976"/>
            <a:ext cx="617586" cy="568658"/>
          </a:xfrm>
          <a:prstGeom prst="ellipse">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9576436" y="738631"/>
            <a:ext cx="596264" cy="545169"/>
          </a:xfrm>
          <a:prstGeom prst="ellipse">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0852028" y="364867"/>
            <a:ext cx="595500" cy="557057"/>
          </a:xfrm>
          <a:prstGeom prst="ellipse">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073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p:nvPr/>
        </p:nvPicPr>
        <p:blipFill>
          <a:blip r:embed="rId4"/>
          <a:stretch>
            <a:fillRect/>
          </a:stretch>
        </p:blipFill>
        <p:spPr>
          <a:xfrm>
            <a:off x="49306" y="483632"/>
            <a:ext cx="3562350" cy="3790950"/>
          </a:xfrm>
          <a:prstGeom prst="rect">
            <a:avLst/>
          </a:prstGeom>
        </p:spPr>
      </p:pic>
      <p:pic>
        <p:nvPicPr>
          <p:cNvPr id="5" name="Picture 4"/>
          <p:cNvPicPr/>
          <p:nvPr/>
        </p:nvPicPr>
        <p:blipFill>
          <a:blip r:embed="rId5"/>
          <a:stretch>
            <a:fillRect/>
          </a:stretch>
        </p:blipFill>
        <p:spPr>
          <a:xfrm>
            <a:off x="4039440" y="1266825"/>
            <a:ext cx="5943600" cy="2066290"/>
          </a:xfrm>
          <a:prstGeom prst="rect">
            <a:avLst/>
          </a:prstGeom>
        </p:spPr>
      </p:pic>
      <p:cxnSp>
        <p:nvCxnSpPr>
          <p:cNvPr id="7" name="Straight Arrow Connector 6"/>
          <p:cNvCxnSpPr/>
          <p:nvPr/>
        </p:nvCxnSpPr>
        <p:spPr>
          <a:xfrm flipV="1">
            <a:off x="2948940" y="2571750"/>
            <a:ext cx="1090500" cy="998855"/>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9" name="TextBox 8"/>
          <p:cNvSpPr txBox="1"/>
          <p:nvPr/>
        </p:nvSpPr>
        <p:spPr>
          <a:xfrm>
            <a:off x="251460" y="114300"/>
            <a:ext cx="1198661"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Εξαιρέσεις</a:t>
            </a:r>
            <a:endParaRPr lang="en-US" b="1" dirty="0">
              <a:effectLst>
                <a:outerShdw blurRad="38100" dist="38100" dir="2700000" algn="tl">
                  <a:srgbClr val="000000">
                    <a:alpha val="43137"/>
                  </a:srgbClr>
                </a:outerShdw>
              </a:effectLst>
            </a:endParaRPr>
          </a:p>
        </p:txBody>
      </p:sp>
      <p:sp>
        <p:nvSpPr>
          <p:cNvPr id="10" name="TextBox 9"/>
          <p:cNvSpPr txBox="1"/>
          <p:nvPr/>
        </p:nvSpPr>
        <p:spPr>
          <a:xfrm>
            <a:off x="1762125" y="4267071"/>
            <a:ext cx="9141459" cy="2308324"/>
          </a:xfrm>
          <a:prstGeom prst="rect">
            <a:avLst/>
          </a:prstGeom>
          <a:noFill/>
        </p:spPr>
        <p:txBody>
          <a:bodyPr wrap="square" rtlCol="0">
            <a:spAutoFit/>
          </a:bodyPr>
          <a:lstStyle/>
          <a:p>
            <a:r>
              <a:rPr lang="el-GR" dirty="0">
                <a:solidFill>
                  <a:schemeClr val="accent6">
                    <a:lumMod val="75000"/>
                  </a:schemeClr>
                </a:solidFill>
              </a:rPr>
              <a:t>Passenger Count: </a:t>
            </a:r>
            <a:r>
              <a:rPr lang="el-GR" dirty="0"/>
              <a:t>Βρέθηκαν 5.791 εγγραφές που θεωρήθηκαν outliers.</a:t>
            </a:r>
          </a:p>
          <a:p>
            <a:pPr lvl="1"/>
            <a:r>
              <a:rPr lang="el-GR" dirty="0"/>
              <a:t>Το Upper bound (άνω όριο) υπολογίστηκε στο 42.502,5. Αυτό σημαίνει ότι ο αλγόριθμος θεώρησε "στατιστικά ακραία" οποιαδήποτε εγγραφή είχε πάνω από ~42.500 επιβάτες.</a:t>
            </a:r>
          </a:p>
          <a:p>
            <a:r>
              <a:rPr lang="el-GR" dirty="0">
                <a:solidFill>
                  <a:srgbClr val="FFC000"/>
                </a:solidFill>
              </a:rPr>
              <a:t>Landing Count: </a:t>
            </a:r>
            <a:r>
              <a:rPr lang="el-GR" dirty="0"/>
              <a:t>Βρέθηκαν 4.616 εγγραφές ως outliers.</a:t>
            </a:r>
          </a:p>
          <a:p>
            <a:pPr lvl="1"/>
            <a:r>
              <a:rPr lang="el-GR" dirty="0"/>
              <a:t>Οποιαδήποτε περίοδος με περισσότερες από 188 προσγειώσεις (Upper bound) θεωρήθηκε εξαίρεση.</a:t>
            </a:r>
          </a:p>
          <a:p>
            <a:r>
              <a:rPr lang="el-GR" dirty="0">
                <a:solidFill>
                  <a:schemeClr val="accent2">
                    <a:lumMod val="75000"/>
                  </a:schemeClr>
                </a:solidFill>
              </a:rPr>
              <a:t>Total Landed Weight: </a:t>
            </a:r>
            <a:r>
              <a:rPr lang="el-GR" dirty="0"/>
              <a:t>Βρέθηκαν 3.779 εγγραφές outliers (με βάρος άνω των ~44 εκατ. λιβρών).</a:t>
            </a:r>
          </a:p>
          <a:p>
            <a:endParaRPr lang="en-US" dirty="0"/>
          </a:p>
        </p:txBody>
      </p:sp>
    </p:spTree>
    <p:extLst>
      <p:ext uri="{BB962C8B-B14F-4D97-AF65-F5344CB8AC3E}">
        <p14:creationId xmlns:p14="http://schemas.microsoft.com/office/powerpoint/2010/main" val="3433405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0"/>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pic>
        <p:nvPicPr>
          <p:cNvPr id="5" name="Picture 4"/>
          <p:cNvPicPr/>
          <p:nvPr/>
        </p:nvPicPr>
        <p:blipFill>
          <a:blip r:embed="rId4"/>
          <a:stretch>
            <a:fillRect/>
          </a:stretch>
        </p:blipFill>
        <p:spPr>
          <a:xfrm>
            <a:off x="0" y="422672"/>
            <a:ext cx="5943600" cy="1879600"/>
          </a:xfrm>
          <a:prstGeom prst="rect">
            <a:avLst/>
          </a:prstGeom>
        </p:spPr>
      </p:pic>
      <p:sp>
        <p:nvSpPr>
          <p:cNvPr id="6" name="TextBox 5"/>
          <p:cNvSpPr txBox="1"/>
          <p:nvPr/>
        </p:nvSpPr>
        <p:spPr>
          <a:xfrm>
            <a:off x="5844540" y="238006"/>
            <a:ext cx="6272351" cy="2031325"/>
          </a:xfrm>
          <a:prstGeom prst="rect">
            <a:avLst/>
          </a:prstGeom>
          <a:noFill/>
        </p:spPr>
        <p:txBody>
          <a:bodyPr wrap="square" rtlCol="0">
            <a:spAutoFit/>
          </a:bodyPr>
          <a:lstStyle/>
          <a:p>
            <a:pPr lvl="0"/>
            <a:r>
              <a:rPr lang="el-GR" sz="1400" b="1" dirty="0"/>
              <a:t>Πάνω Κλάδος (</a:t>
            </a:r>
            <a:r>
              <a:rPr lang="en-US" sz="1400" b="1" dirty="0"/>
              <a:t>Training Evaluation</a:t>
            </a:r>
            <a:r>
              <a:rPr lang="el-GR" sz="1400" b="1" dirty="0"/>
              <a:t>):</a:t>
            </a:r>
            <a:r>
              <a:rPr lang="el-GR" sz="1400" dirty="0"/>
              <a:t> Εφαρμόζουμε το μοντέλο στα δεδομένα εκπαίδευσης. Εδώ μετράμε πόσο καλά έχει "αποστηθίσει" το μοντέλο τα δεδομένα που ήδη ξέρει.</a:t>
            </a:r>
            <a:endParaRPr lang="en-US" sz="1400" dirty="0"/>
          </a:p>
          <a:p>
            <a:pPr lvl="0"/>
            <a:r>
              <a:rPr lang="el-GR" sz="1400" b="1" dirty="0"/>
              <a:t>Κάτω Κλάδος (</a:t>
            </a:r>
            <a:r>
              <a:rPr lang="en-US" sz="1400" b="1" dirty="0"/>
              <a:t>Test Evaluation</a:t>
            </a:r>
            <a:r>
              <a:rPr lang="el-GR" sz="1400" b="1" dirty="0"/>
              <a:t>):</a:t>
            </a:r>
            <a:r>
              <a:rPr lang="el-GR" sz="1400" dirty="0"/>
              <a:t> Εφαρμόζουμε το ίδιο μοντέλο στα άγνωστα δεδομένα (</a:t>
            </a:r>
            <a:r>
              <a:rPr lang="en-US" sz="1400" dirty="0"/>
              <a:t>Test set</a:t>
            </a:r>
            <a:r>
              <a:rPr lang="el-GR" sz="1400" dirty="0"/>
              <a:t>). </a:t>
            </a:r>
            <a:r>
              <a:rPr lang="en-US" sz="1400" dirty="0" err="1"/>
              <a:t>Εδώ</a:t>
            </a:r>
            <a:r>
              <a:rPr lang="en-US" sz="1400" dirty="0"/>
              <a:t> </a:t>
            </a:r>
            <a:r>
              <a:rPr lang="en-US" sz="1400" dirty="0" err="1"/>
              <a:t>μετράμε</a:t>
            </a:r>
            <a:r>
              <a:rPr lang="en-US" sz="1400" dirty="0"/>
              <a:t> </a:t>
            </a:r>
            <a:r>
              <a:rPr lang="en-US" sz="1400" dirty="0" err="1"/>
              <a:t>την</a:t>
            </a:r>
            <a:r>
              <a:rPr lang="en-US" sz="1400" dirty="0"/>
              <a:t> </a:t>
            </a:r>
            <a:r>
              <a:rPr lang="en-US" sz="1400" dirty="0" err="1"/>
              <a:t>ικ</a:t>
            </a:r>
            <a:r>
              <a:rPr lang="en-US" sz="1400" dirty="0"/>
              <a:t>ανότητα </a:t>
            </a:r>
            <a:r>
              <a:rPr lang="en-US" sz="1400" b="1" dirty="0"/>
              <a:t>γενίκευσης (Generalization)</a:t>
            </a:r>
            <a:r>
              <a:rPr lang="en-US" sz="1400" dirty="0"/>
              <a:t> του μοντέλου.</a:t>
            </a:r>
          </a:p>
          <a:p>
            <a:r>
              <a:rPr lang="el-GR" sz="1400" i="1" dirty="0"/>
              <a:t>Η σύγκριση αυτών των δύο σκορ είναι ο μόνος τρόπος να εντοπίσουμε το </a:t>
            </a:r>
            <a:r>
              <a:rPr lang="en-US" sz="1400" b="1" i="1" dirty="0"/>
              <a:t>Overfitting</a:t>
            </a:r>
            <a:r>
              <a:rPr lang="el-GR" sz="1400" i="1" dirty="0"/>
              <a:t>. Αν ο πάνω κλάδος έχει πολύ υψηλότερο σκορ από τον κάτω, ξέρουμε ότι το μοντέλο απέτυχε.</a:t>
            </a:r>
            <a:endParaRPr lang="en-US" sz="1400" dirty="0"/>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8" name="Picture 7" descr="C:\Users\spyro\AppData\Local\Microsoft\Windows\INetCache\Content.Word\Line Plot decision trees.png"/>
          <p:cNvPicPr/>
          <p:nvPr/>
        </p:nvPicPr>
        <p:blipFill>
          <a:blip r:embed="rId5">
            <a:extLst>
              <a:ext uri="{28A0092B-C50C-407E-A947-70E740481C1C}">
                <a14:useLocalDpi xmlns:a14="http://schemas.microsoft.com/office/drawing/2010/main" val="0"/>
              </a:ext>
            </a:extLst>
          </a:blip>
          <a:srcRect/>
          <a:stretch>
            <a:fillRect/>
          </a:stretch>
        </p:blipFill>
        <p:spPr bwMode="auto">
          <a:xfrm>
            <a:off x="48909" y="3106836"/>
            <a:ext cx="5303520" cy="3693914"/>
          </a:xfrm>
          <a:prstGeom prst="rect">
            <a:avLst/>
          </a:prstGeom>
          <a:noFill/>
          <a:ln>
            <a:noFill/>
          </a:ln>
        </p:spPr>
      </p:pic>
      <p:sp>
        <p:nvSpPr>
          <p:cNvPr id="9" name="TextBox 8"/>
          <p:cNvSpPr txBox="1"/>
          <p:nvPr/>
        </p:nvSpPr>
        <p:spPr>
          <a:xfrm>
            <a:off x="1226224" y="2737504"/>
            <a:ext cx="2487348" cy="276999"/>
          </a:xfrm>
          <a:prstGeom prst="rect">
            <a:avLst/>
          </a:prstGeom>
          <a:noFill/>
        </p:spPr>
        <p:txBody>
          <a:bodyPr wrap="none" rtlCol="0">
            <a:spAutoFit/>
          </a:bodyPr>
          <a:lstStyle/>
          <a:p>
            <a:r>
              <a:rPr lang="en-US" sz="1200" dirty="0"/>
              <a:t>Accuracy</a:t>
            </a:r>
            <a:r>
              <a:rPr lang="el-GR" sz="1200" dirty="0"/>
              <a:t>:</a:t>
            </a:r>
            <a:r>
              <a:rPr lang="en-US" sz="1200" dirty="0"/>
              <a:t> 0.671    Accuracy Test</a:t>
            </a:r>
            <a:r>
              <a:rPr lang="el-GR" sz="1200" dirty="0"/>
              <a:t>:</a:t>
            </a:r>
            <a:r>
              <a:rPr lang="en-US" sz="1200" dirty="0"/>
              <a:t> 0.66</a:t>
            </a:r>
          </a:p>
        </p:txBody>
      </p:sp>
      <p:sp>
        <p:nvSpPr>
          <p:cNvPr id="10" name="TextBox 9"/>
          <p:cNvSpPr txBox="1"/>
          <p:nvPr/>
        </p:nvSpPr>
        <p:spPr>
          <a:xfrm>
            <a:off x="5510322" y="2868894"/>
            <a:ext cx="6614160" cy="954107"/>
          </a:xfrm>
          <a:prstGeom prst="rect">
            <a:avLst/>
          </a:prstGeom>
          <a:noFill/>
        </p:spPr>
        <p:txBody>
          <a:bodyPr wrap="square" rtlCol="0">
            <a:spAutoFit/>
          </a:bodyPr>
          <a:lstStyle/>
          <a:p>
            <a:pPr lvl="0"/>
            <a:r>
              <a:rPr lang="el-GR" sz="1400" b="1" dirty="0"/>
              <a:t>Η Διαφορά:</a:t>
            </a:r>
            <a:r>
              <a:rPr lang="el-GR" sz="1400" dirty="0"/>
              <a:t> Είναι μόλις </a:t>
            </a:r>
            <a:r>
              <a:rPr lang="el-GR" sz="1400" b="1" dirty="0"/>
              <a:t>1.1%</a:t>
            </a:r>
            <a:r>
              <a:rPr lang="el-GR" sz="1400" dirty="0"/>
              <a:t>.</a:t>
            </a:r>
            <a:endParaRPr lang="en-US" sz="1400" dirty="0"/>
          </a:p>
          <a:p>
            <a:pPr lvl="1"/>
            <a:r>
              <a:rPr lang="el-GR" sz="1400" dirty="0"/>
              <a:t>Όταν η διαφορά είναι τόσο μικρή, σημαίνει ότι το μοντέλο </a:t>
            </a:r>
            <a:r>
              <a:rPr lang="el-GR" sz="1400" b="1" dirty="0"/>
              <a:t>ΔΕΝ έχει </a:t>
            </a:r>
            <a:r>
              <a:rPr lang="en-US" sz="1400" b="1" dirty="0"/>
              <a:t>Overfitting</a:t>
            </a:r>
            <a:r>
              <a:rPr lang="el-GR" sz="1400" dirty="0"/>
              <a:t>. </a:t>
            </a:r>
            <a:r>
              <a:rPr lang="en-US" sz="1400" dirty="0" err="1"/>
              <a:t>Δεν</a:t>
            </a:r>
            <a:r>
              <a:rPr lang="en-US" sz="1400" dirty="0"/>
              <a:t> </a:t>
            </a:r>
            <a:r>
              <a:rPr lang="en-US" sz="1400" dirty="0" err="1"/>
              <a:t>έχει</a:t>
            </a:r>
            <a:r>
              <a:rPr lang="en-US" sz="1400" dirty="0"/>
              <a:t> "παπαγα</a:t>
            </a:r>
            <a:r>
              <a:rPr lang="en-US" sz="1400" dirty="0" err="1"/>
              <a:t>λίσει</a:t>
            </a:r>
            <a:r>
              <a:rPr lang="en-US" sz="1400" dirty="0"/>
              <a:t>".</a:t>
            </a:r>
          </a:p>
          <a:p>
            <a:pPr lvl="1"/>
            <a:r>
              <a:rPr lang="el-GR" sz="1400" dirty="0"/>
              <a:t>Αυτό που έμαθε, ισχύει γενικά. </a:t>
            </a:r>
            <a:r>
              <a:rPr lang="en-US" sz="1400" dirty="0" err="1"/>
              <a:t>Είν</a:t>
            </a:r>
            <a:r>
              <a:rPr lang="en-US" sz="1400" dirty="0"/>
              <a:t>αι αξιόπιστο.</a:t>
            </a:r>
          </a:p>
        </p:txBody>
      </p:sp>
      <p:sp>
        <p:nvSpPr>
          <p:cNvPr id="11" name="TextBox 10"/>
          <p:cNvSpPr txBox="1"/>
          <p:nvPr/>
        </p:nvSpPr>
        <p:spPr>
          <a:xfrm>
            <a:off x="5619307" y="4389623"/>
            <a:ext cx="6572692" cy="1384995"/>
          </a:xfrm>
          <a:prstGeom prst="rect">
            <a:avLst/>
          </a:prstGeom>
          <a:noFill/>
        </p:spPr>
        <p:txBody>
          <a:bodyPr wrap="square" rtlCol="0">
            <a:spAutoFit/>
          </a:bodyPr>
          <a:lstStyle/>
          <a:p>
            <a:r>
              <a:rPr lang="el-GR" sz="1400" dirty="0"/>
              <a:t>Κοιτώντας την εικόνα, βλέπουμε κάτι πολύ ενδιαφέρον:</a:t>
            </a:r>
          </a:p>
          <a:p>
            <a:r>
              <a:rPr lang="el-GR" sz="1400" dirty="0"/>
              <a:t>Οι δύο γραμμές (Μπλε=Train, Πράσινη=Test) κινούνται παράλληλα και σχεδόν ακουμπάνε η μία την άλλη.</a:t>
            </a:r>
          </a:p>
          <a:p>
            <a:r>
              <a:rPr lang="el-GR" sz="1400" dirty="0"/>
              <a:t>Συνήθως, στα Decision Trees, περιμένουμε η μπλε γραμμή να είναι πολύ ψηλά και η πράσινη χαμηλά. Εδώ όμως, επιβάλλοντας περιορισμούς (min records), κρατήσαμε το δέντρο "προσγειωμένο".</a:t>
            </a:r>
          </a:p>
        </p:txBody>
      </p:sp>
      <p:sp>
        <p:nvSpPr>
          <p:cNvPr id="13" name="Rectangle 12"/>
          <p:cNvSpPr/>
          <p:nvPr/>
        </p:nvSpPr>
        <p:spPr>
          <a:xfrm>
            <a:off x="1929525" y="2895182"/>
            <a:ext cx="1080745" cy="261610"/>
          </a:xfrm>
          <a:prstGeom prst="rect">
            <a:avLst/>
          </a:prstGeom>
        </p:spPr>
        <p:txBody>
          <a:bodyPr wrap="none">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min records</a:t>
            </a:r>
            <a:r>
              <a:rPr lang="el-GR" sz="1100" dirty="0">
                <a:latin typeface="Calibri" panose="020F0502020204030204" pitchFamily="34" charset="0"/>
                <a:ea typeface="Calibri" panose="020F0502020204030204" pitchFamily="34" charset="0"/>
                <a:cs typeface="Times New Roman" panose="02020603050405020304" pitchFamily="18" charset="0"/>
              </a:rPr>
              <a:t>:</a:t>
            </a:r>
            <a:r>
              <a:rPr lang="en-US" sz="1100" dirty="0">
                <a:latin typeface="Calibri" panose="020F0502020204030204" pitchFamily="34" charset="0"/>
                <a:ea typeface="Calibri" panose="020F0502020204030204" pitchFamily="34" charset="0"/>
                <a:cs typeface="Times New Roman" panose="02020603050405020304" pitchFamily="18" charset="0"/>
              </a:rPr>
              <a:t> 45</a:t>
            </a:r>
            <a:endParaRPr lang="en-US" sz="1100" dirty="0"/>
          </a:p>
        </p:txBody>
      </p:sp>
    </p:spTree>
    <p:extLst>
      <p:ext uri="{BB962C8B-B14F-4D97-AF65-F5344CB8AC3E}">
        <p14:creationId xmlns:p14="http://schemas.microsoft.com/office/powerpoint/2010/main" val="329303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12" name="Picture 11"/>
          <p:cNvPicPr/>
          <p:nvPr/>
        </p:nvPicPr>
        <p:blipFill>
          <a:blip r:embed="rId4"/>
          <a:stretch>
            <a:fillRect/>
          </a:stretch>
        </p:blipFill>
        <p:spPr>
          <a:xfrm>
            <a:off x="76616" y="418360"/>
            <a:ext cx="5943600" cy="1990725"/>
          </a:xfrm>
          <a:prstGeom prst="rect">
            <a:avLst/>
          </a:prstGeom>
        </p:spPr>
      </p:pic>
      <p:sp>
        <p:nvSpPr>
          <p:cNvPr id="2" name="TextBox 1"/>
          <p:cNvSpPr txBox="1"/>
          <p:nvPr/>
        </p:nvSpPr>
        <p:spPr>
          <a:xfrm>
            <a:off x="6057900" y="139063"/>
            <a:ext cx="3965733" cy="877163"/>
          </a:xfrm>
          <a:prstGeom prst="rect">
            <a:avLst/>
          </a:prstGeom>
          <a:noFill/>
        </p:spPr>
        <p:txBody>
          <a:bodyPr wrap="square" rtlCol="0">
            <a:spAutoFit/>
          </a:bodyPr>
          <a:lstStyle/>
          <a:p>
            <a:r>
              <a:rPr lang="el-GR" sz="1400" dirty="0"/>
              <a:t>Χρησιμοποιήσαμε τον πιο εξειδικευμένο κόμβο </a:t>
            </a:r>
            <a:r>
              <a:rPr lang="el-GR" sz="1400" i="1" dirty="0">
                <a:solidFill>
                  <a:schemeClr val="accent1">
                    <a:lumMod val="75000"/>
                  </a:schemeClr>
                </a:solidFill>
              </a:rPr>
              <a:t>Parameter Optimization Loop Start</a:t>
            </a:r>
          </a:p>
          <a:p>
            <a:endParaRPr lang="el-GR" sz="1400" dirty="0"/>
          </a:p>
          <a:p>
            <a:r>
              <a:rPr lang="el-GR" sz="900" dirty="0"/>
              <a:t>Για κρίσιμες παραμέτρους όπως το </a:t>
            </a:r>
            <a:r>
              <a:rPr lang="el-GR" sz="900" i="1" dirty="0"/>
              <a:t>Min Node Size </a:t>
            </a:r>
            <a:r>
              <a:rPr lang="el-GR" sz="900" dirty="0"/>
              <a:t>ή το </a:t>
            </a:r>
            <a:r>
              <a:rPr lang="el-GR" sz="900" i="1" dirty="0"/>
              <a:t>Number of Models</a:t>
            </a:r>
            <a:endParaRPr lang="en-US" sz="900" i="1" dirty="0"/>
          </a:p>
        </p:txBody>
      </p:sp>
      <p:sp>
        <p:nvSpPr>
          <p:cNvPr id="15" name="TextBox 14"/>
          <p:cNvSpPr txBox="1"/>
          <p:nvPr/>
        </p:nvSpPr>
        <p:spPr>
          <a:xfrm>
            <a:off x="6057900" y="1384884"/>
            <a:ext cx="5208576" cy="830997"/>
          </a:xfrm>
          <a:prstGeom prst="rect">
            <a:avLst/>
          </a:prstGeom>
          <a:noFill/>
        </p:spPr>
        <p:txBody>
          <a:bodyPr wrap="square" rtlCol="0">
            <a:spAutoFit/>
          </a:bodyPr>
          <a:lstStyle/>
          <a:p>
            <a:r>
              <a:rPr lang="el-GR" sz="1600" i="1" dirty="0"/>
              <a:t>Χτίζει πολλά δέντρα </a:t>
            </a:r>
            <a:r>
              <a:rPr lang="el-GR" sz="1600" b="1" i="1" dirty="0"/>
              <a:t>σειριακά (</a:t>
            </a:r>
            <a:r>
              <a:rPr lang="en-US" sz="1600" b="1" i="1" dirty="0"/>
              <a:t>sequentially</a:t>
            </a:r>
            <a:r>
              <a:rPr lang="el-GR" sz="1600" b="1" i="1" dirty="0"/>
              <a:t>) )</a:t>
            </a:r>
            <a:r>
              <a:rPr lang="el-GR" sz="1600" i="1" dirty="0"/>
              <a:t>, </a:t>
            </a:r>
          </a:p>
          <a:p>
            <a:r>
              <a:rPr lang="el-GR" sz="1600" i="1" dirty="0"/>
              <a:t>όπου κάθε νέο δέντρο προσπαθεί να διορθώσει τα λάθη των προηγούμενων. </a:t>
            </a:r>
            <a:endParaRPr lang="en-US" sz="1600" dirty="0"/>
          </a:p>
        </p:txBody>
      </p:sp>
      <p:pic>
        <p:nvPicPr>
          <p:cNvPr id="5123" name="Picture 3" descr="Line Plot Gradient boosted tree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616" y="3113144"/>
            <a:ext cx="5957012" cy="105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p:cNvSpPr txBox="1"/>
          <p:nvPr/>
        </p:nvSpPr>
        <p:spPr>
          <a:xfrm>
            <a:off x="100888" y="4272669"/>
            <a:ext cx="7721048" cy="954107"/>
          </a:xfrm>
          <a:prstGeom prst="rect">
            <a:avLst/>
          </a:prstGeom>
          <a:noFill/>
        </p:spPr>
        <p:txBody>
          <a:bodyPr wrap="square" rtlCol="0">
            <a:spAutoFit/>
          </a:bodyPr>
          <a:lstStyle/>
          <a:p>
            <a:r>
              <a:rPr lang="el-GR" sz="1400" b="1" i="1" dirty="0"/>
              <a:t>Training Accuracy:</a:t>
            </a:r>
            <a:r>
              <a:rPr lang="el-GR" sz="1400" b="1" dirty="0"/>
              <a:t> </a:t>
            </a:r>
            <a:r>
              <a:rPr lang="el-GR" sz="1400" dirty="0"/>
              <a:t>100% (1.0): Αυτό είναι το απόλυτο. Το μοντέλο έμαθε τέλεια κάθε λεπτομέρεια των δεδομένων εκπαίδευσης.</a:t>
            </a:r>
          </a:p>
          <a:p>
            <a:r>
              <a:rPr lang="el-GR" sz="1400" b="1" i="1" dirty="0"/>
              <a:t>Test Accuracy: </a:t>
            </a:r>
            <a:r>
              <a:rPr lang="el-GR" sz="1400" dirty="0"/>
              <a:t>70.9%: Στα άγνωστα δεδομένα τα πάει καλά, αλλά όχι τέλεια.</a:t>
            </a:r>
          </a:p>
          <a:p>
            <a:r>
              <a:rPr lang="el-GR" sz="1400" dirty="0"/>
              <a:t>Η </a:t>
            </a:r>
            <a:r>
              <a:rPr lang="el-GR" sz="1400" b="1" i="1" dirty="0"/>
              <a:t>Διαφορά</a:t>
            </a:r>
            <a:r>
              <a:rPr lang="el-GR" sz="1400" dirty="0"/>
              <a:t> (Gap): Έχουμε χάσμα σχεδόν 30 μονάδων.</a:t>
            </a:r>
          </a:p>
        </p:txBody>
      </p:sp>
      <p:sp>
        <p:nvSpPr>
          <p:cNvPr id="19" name="TextBox 18"/>
          <p:cNvSpPr txBox="1"/>
          <p:nvPr/>
        </p:nvSpPr>
        <p:spPr>
          <a:xfrm>
            <a:off x="1624207" y="2641445"/>
            <a:ext cx="2356671" cy="461665"/>
          </a:xfrm>
          <a:prstGeom prst="rect">
            <a:avLst/>
          </a:prstGeom>
          <a:noFill/>
        </p:spPr>
        <p:txBody>
          <a:bodyPr wrap="none" rtlCol="0">
            <a:spAutoFit/>
          </a:bodyPr>
          <a:lstStyle/>
          <a:p>
            <a:r>
              <a:rPr lang="en-US" sz="1200" dirty="0"/>
              <a:t>Accuracy</a:t>
            </a:r>
            <a:r>
              <a:rPr lang="el-GR" sz="1200" dirty="0"/>
              <a:t>:</a:t>
            </a:r>
            <a:r>
              <a:rPr lang="en-US" sz="1200" dirty="0"/>
              <a:t> 1   accuracy test</a:t>
            </a:r>
            <a:r>
              <a:rPr lang="el-GR" sz="1200" dirty="0"/>
              <a:t>:</a:t>
            </a:r>
            <a:r>
              <a:rPr lang="en-US" sz="1200" dirty="0"/>
              <a:t> 0.709   </a:t>
            </a:r>
            <a:endParaRPr lang="el-GR" sz="1200" dirty="0"/>
          </a:p>
          <a:p>
            <a:pPr algn="ctr"/>
            <a:r>
              <a:rPr lang="en-US" sz="1200" dirty="0"/>
              <a:t> min node size</a:t>
            </a:r>
            <a:r>
              <a:rPr lang="el-GR" sz="1200" dirty="0"/>
              <a:t> =</a:t>
            </a:r>
            <a:r>
              <a:rPr lang="en-US" sz="1200" dirty="0"/>
              <a:t> 10</a:t>
            </a:r>
          </a:p>
        </p:txBody>
      </p:sp>
      <p:sp>
        <p:nvSpPr>
          <p:cNvPr id="20" name="TextBox 19"/>
          <p:cNvSpPr txBox="1"/>
          <p:nvPr/>
        </p:nvSpPr>
        <p:spPr>
          <a:xfrm>
            <a:off x="4849190" y="5436049"/>
            <a:ext cx="7164472" cy="1169551"/>
          </a:xfrm>
          <a:prstGeom prst="rect">
            <a:avLst/>
          </a:prstGeom>
          <a:noFill/>
        </p:spPr>
        <p:txBody>
          <a:bodyPr wrap="square" rtlCol="0">
            <a:spAutoFit/>
          </a:bodyPr>
          <a:lstStyle/>
          <a:p>
            <a:r>
              <a:rPr lang="el-GR" sz="1400" dirty="0"/>
              <a:t>Το μοντέλο είναι "</a:t>
            </a:r>
            <a:r>
              <a:rPr lang="el-GR" sz="1400" b="1" dirty="0"/>
              <a:t>Επιθετικό</a:t>
            </a:r>
            <a:r>
              <a:rPr lang="el-GR" sz="1400" dirty="0"/>
              <a:t>". Επειδή το Gradient Boosting διορθώνει διαρκώς τα λάθη του προηγούμενου δέντρου, κατάφερε να μηδενίσει το σφάλμα στην εκπαίδευση. Όμως, αυτό το 100% σημαίνει ότι έχει αποστηθίσει και τον "θόρυβο" (noise). Αν είχαμε περισσότερο χρόνο για tuning (π.χ. να ανεβάζαμε το min node size στο 50 αντί για 10), ίσως η μπλε γραμμή να έπεφτε στο 85% και η πράσινη να ανέβαινε στο 72-73%.</a:t>
            </a:r>
            <a:endParaRPr lang="en-US" sz="1400" dirty="0"/>
          </a:p>
        </p:txBody>
      </p:sp>
      <p:sp>
        <p:nvSpPr>
          <p:cNvPr id="22" name="TextBox 21"/>
          <p:cNvSpPr txBox="1"/>
          <p:nvPr/>
        </p:nvSpPr>
        <p:spPr>
          <a:xfrm>
            <a:off x="7979155" y="4272668"/>
            <a:ext cx="4088955" cy="954107"/>
          </a:xfrm>
          <a:prstGeom prst="rect">
            <a:avLst/>
          </a:prstGeom>
          <a:solidFill>
            <a:schemeClr val="accent2">
              <a:lumMod val="75000"/>
              <a:alpha val="53000"/>
            </a:schemeClr>
          </a:solidFill>
        </p:spPr>
        <p:txBody>
          <a:bodyPr wrap="square" rtlCol="0">
            <a:spAutoFit/>
          </a:bodyPr>
          <a:lstStyle/>
          <a:p>
            <a:r>
              <a:rPr lang="el-GR" sz="1400" b="1" dirty="0"/>
              <a:t>Πρόβλημα/περιορισμός: </a:t>
            </a:r>
            <a:r>
              <a:rPr lang="el-GR" sz="1400" dirty="0"/>
              <a:t>Μεγάλος χρόνος υλοποίησης και ανάγκη για σημαντικούς πόρους. Το τεστ έγινε με</a:t>
            </a:r>
            <a:r>
              <a:rPr lang="en-US" sz="1400" dirty="0"/>
              <a:t> </a:t>
            </a:r>
            <a:r>
              <a:rPr lang="el-GR" sz="1400" dirty="0"/>
              <a:t>μικρότερα από τα αρχικά νούμερα για αριθμό μοντέλων, </a:t>
            </a:r>
            <a:r>
              <a:rPr lang="en-US" sz="1400" dirty="0"/>
              <a:t>learning rate </a:t>
            </a:r>
            <a:r>
              <a:rPr lang="el-GR" sz="1400" dirty="0"/>
              <a:t>και </a:t>
            </a:r>
            <a:r>
              <a:rPr lang="en-US" sz="1400" dirty="0"/>
              <a:t>min node size</a:t>
            </a:r>
            <a:r>
              <a:rPr lang="el-GR" sz="1400" dirty="0"/>
              <a:t>  </a:t>
            </a:r>
            <a:endParaRPr lang="en-US" sz="1400" dirty="0"/>
          </a:p>
        </p:txBody>
      </p:sp>
      <p:sp>
        <p:nvSpPr>
          <p:cNvPr id="24" name="TextBox 23"/>
          <p:cNvSpPr txBox="1"/>
          <p:nvPr/>
        </p:nvSpPr>
        <p:spPr>
          <a:xfrm>
            <a:off x="6033628" y="2486938"/>
            <a:ext cx="5981700" cy="1600438"/>
          </a:xfrm>
          <a:prstGeom prst="rect">
            <a:avLst/>
          </a:prstGeom>
          <a:noFill/>
        </p:spPr>
        <p:txBody>
          <a:bodyPr wrap="square" rtlCol="0">
            <a:spAutoFit/>
          </a:bodyPr>
          <a:lstStyle/>
          <a:p>
            <a:pPr lvl="0"/>
            <a:r>
              <a:rPr lang="el-GR" sz="1400" dirty="0"/>
              <a:t>Παρατηρούμε έντονο φαινόμενο </a:t>
            </a:r>
            <a:r>
              <a:rPr lang="en-US" sz="1400" b="1" dirty="0"/>
              <a:t>Overfitting</a:t>
            </a:r>
            <a:r>
              <a:rPr lang="el-GR" sz="1400" dirty="0"/>
              <a:t>. Όπως φαίνεται στο διάγραμμα, η ακρίβεια εκπαίδευσης (</a:t>
            </a:r>
            <a:r>
              <a:rPr lang="en-US" sz="1400" dirty="0"/>
              <a:t>Training</a:t>
            </a:r>
            <a:r>
              <a:rPr lang="el-GR" sz="1400" dirty="0"/>
              <a:t>) άγγιξε το </a:t>
            </a:r>
            <a:r>
              <a:rPr lang="el-GR" sz="1400" b="1" dirty="0"/>
              <a:t>100%</a:t>
            </a:r>
            <a:r>
              <a:rPr lang="el-GR" sz="1400" dirty="0"/>
              <a:t>, ενώ η ακρίβεια ελέγχου (</a:t>
            </a:r>
            <a:r>
              <a:rPr lang="en-US" sz="1400" dirty="0"/>
              <a:t>Test</a:t>
            </a:r>
            <a:r>
              <a:rPr lang="el-GR" sz="1400" dirty="0"/>
              <a:t>) έμεινε χαμηλότερα.</a:t>
            </a:r>
            <a:endParaRPr lang="en-US" sz="1400" dirty="0"/>
          </a:p>
          <a:p>
            <a:pPr lvl="0"/>
            <a:r>
              <a:rPr lang="el-GR" sz="1400" dirty="0"/>
              <a:t>Το μοντέλο επέλεξε την τιμή </a:t>
            </a:r>
            <a:r>
              <a:rPr lang="el-GR" sz="1400" b="1" dirty="0"/>
              <a:t>10</a:t>
            </a:r>
            <a:r>
              <a:rPr lang="el-GR" sz="1400" dirty="0"/>
              <a:t> για το </a:t>
            </a:r>
            <a:r>
              <a:rPr lang="en-US" sz="1400" dirty="0"/>
              <a:t>Min Node Size</a:t>
            </a:r>
            <a:r>
              <a:rPr lang="el-GR" sz="1400" dirty="0"/>
              <a:t> (το ανώτατο όριο που θέσαμε), προσπαθώντας να περιορίσει την πολυπλοκότητά του. Αυτό δείχνει ότι ο αλγόριθμος έχει τεράστια δυνατότητα μάθησης, αλλά απαιτεί αυστηρούς περιορισμούς (</a:t>
            </a:r>
            <a:r>
              <a:rPr lang="en-US" sz="1400" dirty="0"/>
              <a:t>Regularization</a:t>
            </a:r>
            <a:r>
              <a:rPr lang="el-GR" sz="1400" dirty="0"/>
              <a:t>) για να μην απομνημονεύει τα δεδομένα.</a:t>
            </a:r>
            <a:endParaRPr lang="en-US" sz="1400" dirty="0"/>
          </a:p>
        </p:txBody>
      </p:sp>
    </p:spTree>
    <p:extLst>
      <p:ext uri="{BB962C8B-B14F-4D97-AF65-F5344CB8AC3E}">
        <p14:creationId xmlns:p14="http://schemas.microsoft.com/office/powerpoint/2010/main" val="2083367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13" name="Picture 12" descr="C:\Users\spyro\AppData\Local\Microsoft\Windows\INetCache\Content.Word\Line Plot naive bayes.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452" y="3079175"/>
            <a:ext cx="5943600" cy="1047750"/>
          </a:xfrm>
          <a:prstGeom prst="rect">
            <a:avLst/>
          </a:prstGeom>
          <a:noFill/>
          <a:ln>
            <a:noFill/>
          </a:ln>
        </p:spPr>
      </p:pic>
      <p:sp>
        <p:nvSpPr>
          <p:cNvPr id="3" name="TextBox 2"/>
          <p:cNvSpPr txBox="1"/>
          <p:nvPr/>
        </p:nvSpPr>
        <p:spPr>
          <a:xfrm>
            <a:off x="914400" y="2776563"/>
            <a:ext cx="3865161" cy="261610"/>
          </a:xfrm>
          <a:prstGeom prst="rect">
            <a:avLst/>
          </a:prstGeom>
          <a:noFill/>
        </p:spPr>
        <p:txBody>
          <a:bodyPr wrap="none" rtlCol="0">
            <a:spAutoFit/>
          </a:bodyPr>
          <a:lstStyle/>
          <a:p>
            <a:r>
              <a:rPr lang="en-US" sz="1100" dirty="0"/>
              <a:t>Accuracy</a:t>
            </a:r>
            <a:r>
              <a:rPr lang="el-GR" sz="1100" dirty="0"/>
              <a:t>:</a:t>
            </a:r>
            <a:r>
              <a:rPr lang="en-US" sz="1100" dirty="0"/>
              <a:t> 0.545   accuracy test</a:t>
            </a:r>
            <a:r>
              <a:rPr lang="el-GR" sz="1100" dirty="0"/>
              <a:t>:</a:t>
            </a:r>
            <a:r>
              <a:rPr lang="en-US" sz="1100" dirty="0"/>
              <a:t> 0.514    min value</a:t>
            </a:r>
            <a:r>
              <a:rPr lang="el-GR" sz="1100" dirty="0"/>
              <a:t>:</a:t>
            </a:r>
            <a:r>
              <a:rPr lang="en-US" sz="1100" dirty="0"/>
              <a:t> 0, iteration</a:t>
            </a:r>
            <a:r>
              <a:rPr lang="el-GR" sz="1100" dirty="0"/>
              <a:t>:</a:t>
            </a:r>
            <a:r>
              <a:rPr lang="en-US" sz="1100" dirty="0"/>
              <a:t> 0</a:t>
            </a:r>
          </a:p>
        </p:txBody>
      </p:sp>
      <p:pic>
        <p:nvPicPr>
          <p:cNvPr id="14" name="Picture 13"/>
          <p:cNvPicPr/>
          <p:nvPr/>
        </p:nvPicPr>
        <p:blipFill>
          <a:blip r:embed="rId5"/>
          <a:stretch>
            <a:fillRect/>
          </a:stretch>
        </p:blipFill>
        <p:spPr>
          <a:xfrm>
            <a:off x="109452" y="422672"/>
            <a:ext cx="5072148" cy="1749028"/>
          </a:xfrm>
          <a:prstGeom prst="rect">
            <a:avLst/>
          </a:prstGeom>
        </p:spPr>
      </p:pic>
      <p:sp>
        <p:nvSpPr>
          <p:cNvPr id="8" name="TextBox 7"/>
          <p:cNvSpPr txBox="1"/>
          <p:nvPr/>
        </p:nvSpPr>
        <p:spPr>
          <a:xfrm>
            <a:off x="5474441" y="422672"/>
            <a:ext cx="6210300" cy="646331"/>
          </a:xfrm>
          <a:prstGeom prst="rect">
            <a:avLst/>
          </a:prstGeom>
          <a:noFill/>
        </p:spPr>
        <p:txBody>
          <a:bodyPr wrap="square" rtlCol="0">
            <a:spAutoFit/>
          </a:bodyPr>
          <a:lstStyle/>
          <a:p>
            <a:r>
              <a:rPr lang="el-GR" sz="1200" dirty="0"/>
              <a:t>Χρησιμοποιήσαμε τον κόμβο </a:t>
            </a:r>
            <a:r>
              <a:rPr lang="el-GR" sz="1200" b="1" dirty="0"/>
              <a:t>Interval Loop Start </a:t>
            </a:r>
            <a:r>
              <a:rPr lang="el-GR" sz="1200" dirty="0"/>
              <a:t>για να τροφοδοτήσουμε τον </a:t>
            </a:r>
            <a:r>
              <a:rPr lang="el-GR" sz="1200" b="1" dirty="0"/>
              <a:t>Naive Bayes Learner </a:t>
            </a:r>
            <a:r>
              <a:rPr lang="el-GR" sz="1200" dirty="0"/>
              <a:t>με </a:t>
            </a:r>
            <a:r>
              <a:rPr lang="el-GR" sz="1200" i="1" dirty="0"/>
              <a:t>διαφορετικές τιμές παραμέτρων</a:t>
            </a:r>
            <a:r>
              <a:rPr lang="el-GR" sz="1200" dirty="0"/>
              <a:t>, και στη συνέχεια εφαρμόσαμε τη διπλή πρόβλεψη (σε Training και Test set) για να καταγράψουμε τη συμπεριφορά του μοντέλου.</a:t>
            </a:r>
            <a:endParaRPr lang="en-US" sz="1200" dirty="0"/>
          </a:p>
        </p:txBody>
      </p:sp>
      <p:sp>
        <p:nvSpPr>
          <p:cNvPr id="9" name="TextBox 8"/>
          <p:cNvSpPr txBox="1"/>
          <p:nvPr/>
        </p:nvSpPr>
        <p:spPr>
          <a:xfrm>
            <a:off x="5181600" y="1153784"/>
            <a:ext cx="4829079" cy="276999"/>
          </a:xfrm>
          <a:prstGeom prst="rect">
            <a:avLst/>
          </a:prstGeom>
          <a:noFill/>
        </p:spPr>
        <p:txBody>
          <a:bodyPr wrap="none" rtlCol="0">
            <a:spAutoFit/>
          </a:bodyPr>
          <a:lstStyle/>
          <a:p>
            <a:r>
              <a:rPr lang="el-GR" sz="1200" i="1" dirty="0"/>
              <a:t>Παράμετρος: </a:t>
            </a:r>
            <a:r>
              <a:rPr lang="el-GR" sz="1200" b="1" i="1" dirty="0"/>
              <a:t>Ελάχιστη Τυπική Απόκλιση (</a:t>
            </a:r>
            <a:r>
              <a:rPr lang="en-US" sz="1200" b="1" i="1" dirty="0"/>
              <a:t>Minimum Standard Deviation</a:t>
            </a:r>
            <a:r>
              <a:rPr lang="el-GR" sz="1200" b="1" i="1" dirty="0"/>
              <a:t>)</a:t>
            </a:r>
            <a:r>
              <a:rPr lang="el-GR" sz="1200" i="1" dirty="0"/>
              <a:t> </a:t>
            </a:r>
            <a:endParaRPr lang="en-US" sz="1200" dirty="0"/>
          </a:p>
        </p:txBody>
      </p:sp>
      <p:sp>
        <p:nvSpPr>
          <p:cNvPr id="10" name="TextBox 9"/>
          <p:cNvSpPr txBox="1"/>
          <p:nvPr/>
        </p:nvSpPr>
        <p:spPr>
          <a:xfrm>
            <a:off x="5474441" y="1515565"/>
            <a:ext cx="5898409" cy="646331"/>
          </a:xfrm>
          <a:prstGeom prst="rect">
            <a:avLst/>
          </a:prstGeom>
          <a:noFill/>
        </p:spPr>
        <p:txBody>
          <a:bodyPr wrap="square" rtlCol="0">
            <a:spAutoFit/>
          </a:bodyPr>
          <a:lstStyle/>
          <a:p>
            <a:r>
              <a:rPr lang="el-GR" sz="1200" i="1" dirty="0"/>
              <a:t>Στόχος μας ήταν να δούμε αν το μοντέλο θα βελτιωνόταν αν αγνοούσε χαρακτηριστικά με πολύ μικρή διακύμανση (που θεωρητικά μπορεί να είναι θόρυβος). </a:t>
            </a:r>
          </a:p>
          <a:p>
            <a:r>
              <a:rPr lang="el-GR" sz="1200" b="1" i="1" dirty="0"/>
              <a:t>'Θα τα πας καλύτερα αν σου κρύψουμε τις ασήμαντες λεπτομέρειες;'</a:t>
            </a:r>
            <a:endParaRPr lang="en-US" sz="1200" dirty="0"/>
          </a:p>
        </p:txBody>
      </p:sp>
      <p:sp>
        <p:nvSpPr>
          <p:cNvPr id="11" name="TextBox 10"/>
          <p:cNvSpPr txBox="1"/>
          <p:nvPr/>
        </p:nvSpPr>
        <p:spPr>
          <a:xfrm>
            <a:off x="109452" y="4448652"/>
            <a:ext cx="6540964" cy="461665"/>
          </a:xfrm>
          <a:prstGeom prst="rect">
            <a:avLst/>
          </a:prstGeom>
          <a:noFill/>
        </p:spPr>
        <p:txBody>
          <a:bodyPr wrap="square" rtlCol="0">
            <a:spAutoFit/>
          </a:bodyPr>
          <a:lstStyle/>
          <a:p>
            <a:r>
              <a:rPr lang="el-GR" sz="1200" i="1" dirty="0"/>
              <a:t>Το διάγραμμα έδειξε μια </a:t>
            </a:r>
            <a:r>
              <a:rPr lang="el-GR" sz="1200" b="1" i="1" dirty="0"/>
              <a:t>συνεχώς φθίνουσα πορεία</a:t>
            </a:r>
            <a:r>
              <a:rPr lang="el-GR" sz="1200" i="1" dirty="0"/>
              <a:t>. Αυτό απέδειξε ότι κάθε προσπάθεια φιλτραρίσματος πληροφορίας μείωνε την ακρίβεια του μοντέλου. </a:t>
            </a:r>
            <a:endParaRPr lang="en-US" sz="1200" dirty="0"/>
          </a:p>
        </p:txBody>
      </p:sp>
      <p:sp>
        <p:nvSpPr>
          <p:cNvPr id="17" name="TextBox 16"/>
          <p:cNvSpPr txBox="1"/>
          <p:nvPr/>
        </p:nvSpPr>
        <p:spPr>
          <a:xfrm>
            <a:off x="38934" y="5133222"/>
            <a:ext cx="12153066" cy="646331"/>
          </a:xfrm>
          <a:prstGeom prst="rect">
            <a:avLst/>
          </a:prstGeom>
          <a:noFill/>
        </p:spPr>
        <p:txBody>
          <a:bodyPr wrap="square" rtlCol="0">
            <a:spAutoFit/>
          </a:bodyPr>
          <a:lstStyle/>
          <a:p>
            <a:r>
              <a:rPr lang="el-GR" sz="1200" b="1" dirty="0"/>
              <a:t>Τι βλέπουμε: </a:t>
            </a:r>
            <a:r>
              <a:rPr lang="el-GR" sz="1200" dirty="0"/>
              <a:t>Στον άξονα Χ έχουμε το </a:t>
            </a:r>
            <a:r>
              <a:rPr lang="el-GR" sz="1200" i="1" dirty="0"/>
              <a:t>min_stdvalue</a:t>
            </a:r>
            <a:r>
              <a:rPr lang="el-GR" sz="1200" dirty="0"/>
              <a:t> (ελάχιστη τυπική απόκλιση). Αυτή η παράμετρος λέει στον αλγόριθμο: "Αγνόησε τις στήλες που δεν έχουν μεγάλη ποικιλία τιμών".</a:t>
            </a:r>
          </a:p>
          <a:p>
            <a:r>
              <a:rPr lang="el-GR" sz="1200" b="1" dirty="0"/>
              <a:t>Τι σημαίνει η πτώση</a:t>
            </a:r>
            <a:r>
              <a:rPr lang="el-GR" sz="1200" dirty="0"/>
              <a:t>: Όσο μεγαλώνουμε αυτή την τιμή (δηλαδή όσο περισσότερα δεδομένα αγνοούμε/πετάμε), τόσο χειρότερο γίνεται το μοντέλο.</a:t>
            </a:r>
          </a:p>
          <a:p>
            <a:r>
              <a:rPr lang="el-GR" sz="1200" b="1" dirty="0"/>
              <a:t>Το Συμπέρασμα: </a:t>
            </a:r>
            <a:r>
              <a:rPr lang="el-GR" sz="1200" dirty="0"/>
              <a:t>Το γράφημα σας "φωνάζει" ότι κάθε πληροφορία είναι χρήσιμη. Το μοντέλο δουλεύει καλύτερα όταν δεν </a:t>
            </a:r>
            <a:r>
              <a:rPr lang="el-GR" sz="1200"/>
              <a:t>του κρύβεται </a:t>
            </a:r>
            <a:r>
              <a:rPr lang="el-GR" sz="1200" dirty="0"/>
              <a:t>τίποτα (γι' αυτό η καλύτερη τιμή είναι το 0 στην αρχή).</a:t>
            </a:r>
          </a:p>
        </p:txBody>
      </p:sp>
      <p:sp>
        <p:nvSpPr>
          <p:cNvPr id="18" name="TextBox 17"/>
          <p:cNvSpPr txBox="1"/>
          <p:nvPr/>
        </p:nvSpPr>
        <p:spPr>
          <a:xfrm>
            <a:off x="6201956" y="2337534"/>
            <a:ext cx="5678569" cy="2492990"/>
          </a:xfrm>
          <a:prstGeom prst="rect">
            <a:avLst/>
          </a:prstGeom>
          <a:solidFill>
            <a:schemeClr val="accent2">
              <a:lumMod val="20000"/>
              <a:lumOff val="80000"/>
              <a:alpha val="51000"/>
            </a:schemeClr>
          </a:solidFill>
        </p:spPr>
        <p:txBody>
          <a:bodyPr wrap="square" rtlCol="0">
            <a:spAutoFit/>
          </a:bodyPr>
          <a:lstStyle/>
          <a:p>
            <a:pPr lvl="0"/>
            <a:r>
              <a:rPr lang="el-GR" sz="1200" dirty="0"/>
              <a:t>Ο αλγόριθμος αυτός υποθέτει ότι όλα τα χαρακτηριστικά είναι </a:t>
            </a:r>
            <a:r>
              <a:rPr lang="el-GR" sz="1200" b="1" dirty="0"/>
              <a:t>ανεξάρτητα</a:t>
            </a:r>
            <a:r>
              <a:rPr lang="el-GR" sz="1200" dirty="0"/>
              <a:t> μεταξύ τους (π.χ. ότι ο μήνας δεν επηρεάζει τον προορισμό). </a:t>
            </a:r>
          </a:p>
          <a:p>
            <a:pPr lvl="0"/>
            <a:r>
              <a:rPr lang="en-US" sz="1200" b="1" dirty="0" err="1"/>
              <a:t>Underfitting</a:t>
            </a:r>
            <a:r>
              <a:rPr lang="el-GR" sz="1200" b="1" dirty="0"/>
              <a:t>:</a:t>
            </a:r>
            <a:r>
              <a:rPr lang="el-GR" sz="1200" dirty="0"/>
              <a:t> Το χαμηλό σκορ τόσο στο </a:t>
            </a:r>
            <a:r>
              <a:rPr lang="en-US" sz="1200" dirty="0"/>
              <a:t>Training</a:t>
            </a:r>
            <a:r>
              <a:rPr lang="el-GR" sz="1200" dirty="0"/>
              <a:t> (54.5%) όσο και στο </a:t>
            </a:r>
            <a:r>
              <a:rPr lang="en-US" sz="1200" dirty="0"/>
              <a:t>Test</a:t>
            </a:r>
            <a:r>
              <a:rPr lang="el-GR" sz="1200" dirty="0"/>
              <a:t> (51.4%) δείχνει ότι το μοντέλο δεν είναι αρκετά "έξυπνο" για να καταλάβει την πολυπλοκότητα του προβλήματος.</a:t>
            </a:r>
            <a:endParaRPr lang="en-US" sz="1200" dirty="0"/>
          </a:p>
          <a:p>
            <a:r>
              <a:rPr lang="el-GR" sz="1200" dirty="0"/>
              <a:t> </a:t>
            </a:r>
            <a:endParaRPr lang="en-US" sz="1200" dirty="0"/>
          </a:p>
          <a:p>
            <a:pPr lvl="0"/>
            <a:r>
              <a:rPr lang="el-GR" sz="1200" dirty="0"/>
              <a:t>Όπως φαίνεται στο γράφημα, η απόδοσή του ήταν η χαμηλότερη από όλους (</a:t>
            </a:r>
            <a:r>
              <a:rPr lang="en-US" sz="1200" b="1" dirty="0"/>
              <a:t>Accuracy Test</a:t>
            </a:r>
            <a:r>
              <a:rPr lang="el-GR" sz="1200" b="1" dirty="0"/>
              <a:t>: 51.4%</a:t>
            </a:r>
            <a:r>
              <a:rPr lang="el-GR" sz="1200" dirty="0"/>
              <a:t>). Η καμπύλη είναι συνεχώς φθίνουσα, που σημαίνει ότι ο αλγόριθμος χρειαζόταν κάθε διαθέσιμη πληροφορία και κάθε προσπάθεια φιλτραρίσματος (αύξηση του </a:t>
            </a:r>
            <a:r>
              <a:rPr lang="en-US" sz="1200" dirty="0"/>
              <a:t>min</a:t>
            </a:r>
            <a:r>
              <a:rPr lang="el-GR" sz="1200" dirty="0"/>
              <a:t>_</a:t>
            </a:r>
            <a:r>
              <a:rPr lang="en-US" sz="1200" dirty="0" err="1"/>
              <a:t>std</a:t>
            </a:r>
            <a:r>
              <a:rPr lang="el-GR" sz="1200" dirty="0"/>
              <a:t>) μείωνε την ακρίβεια.</a:t>
            </a:r>
            <a:endParaRPr lang="en-US" sz="1200" dirty="0"/>
          </a:p>
          <a:p>
            <a:pPr lvl="0"/>
            <a:r>
              <a:rPr lang="el-GR" sz="1200" dirty="0"/>
              <a:t>Ο </a:t>
            </a:r>
            <a:r>
              <a:rPr lang="en-US" sz="1200" dirty="0"/>
              <a:t>Naive Bayes</a:t>
            </a:r>
            <a:r>
              <a:rPr lang="el-GR" sz="1200" dirty="0"/>
              <a:t> είναι πολύ απλοϊκός για να εντοπίσει τις πολύπλοκες συσχετίσεις των αεροπορικών δεδομένων, επιβεβαιώνοντας έτσι την ανάγκη για πιο σύνθετα μοντέλα όπως τα </a:t>
            </a:r>
            <a:r>
              <a:rPr lang="en-US" sz="1200" dirty="0"/>
              <a:t>Gradient Boosted Trees</a:t>
            </a:r>
            <a:r>
              <a:rPr lang="el-GR" sz="1200" dirty="0"/>
              <a:t>.</a:t>
            </a:r>
            <a:endParaRPr lang="en-US" sz="1200" dirty="0"/>
          </a:p>
        </p:txBody>
      </p:sp>
    </p:spTree>
    <p:extLst>
      <p:ext uri="{BB962C8B-B14F-4D97-AF65-F5344CB8AC3E}">
        <p14:creationId xmlns:p14="http://schemas.microsoft.com/office/powerpoint/2010/main" val="851487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1" y="12104"/>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15" name="Picture 14" descr="C:\Users\spyro\AppData\Local\Microsoft\Windows\INetCache\Content.Word\Line Plot random forest.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 y="2917230"/>
            <a:ext cx="5943600" cy="1047750"/>
          </a:xfrm>
          <a:prstGeom prst="rect">
            <a:avLst/>
          </a:prstGeom>
          <a:noFill/>
          <a:ln>
            <a:noFill/>
          </a:ln>
        </p:spPr>
      </p:pic>
      <p:pic>
        <p:nvPicPr>
          <p:cNvPr id="5" name="Picture 4"/>
          <p:cNvPicPr>
            <a:picLocks noChangeAspect="1"/>
          </p:cNvPicPr>
          <p:nvPr/>
        </p:nvPicPr>
        <p:blipFill>
          <a:blip r:embed="rId5"/>
          <a:stretch>
            <a:fillRect/>
          </a:stretch>
        </p:blipFill>
        <p:spPr>
          <a:xfrm>
            <a:off x="74239" y="343311"/>
            <a:ext cx="5751307" cy="2222988"/>
          </a:xfrm>
          <a:prstGeom prst="rect">
            <a:avLst/>
          </a:prstGeom>
        </p:spPr>
      </p:pic>
      <p:sp>
        <p:nvSpPr>
          <p:cNvPr id="2" name="TextBox 1"/>
          <p:cNvSpPr txBox="1"/>
          <p:nvPr/>
        </p:nvSpPr>
        <p:spPr>
          <a:xfrm flipH="1">
            <a:off x="965027" y="2739194"/>
            <a:ext cx="4073698" cy="261610"/>
          </a:xfrm>
          <a:prstGeom prst="rect">
            <a:avLst/>
          </a:prstGeom>
          <a:noFill/>
        </p:spPr>
        <p:txBody>
          <a:bodyPr wrap="square" rtlCol="0">
            <a:spAutoFit/>
          </a:bodyPr>
          <a:lstStyle/>
          <a:p>
            <a:r>
              <a:rPr lang="en-US" sz="1050" dirty="0"/>
              <a:t>Accuracy</a:t>
            </a:r>
            <a:r>
              <a:rPr lang="el-GR" sz="1050" dirty="0"/>
              <a:t>:</a:t>
            </a:r>
            <a:r>
              <a:rPr lang="en-US" sz="1050" dirty="0"/>
              <a:t> 0.946    accuracy test</a:t>
            </a:r>
            <a:r>
              <a:rPr lang="el-GR" sz="1050" dirty="0"/>
              <a:t>:</a:t>
            </a:r>
            <a:r>
              <a:rPr lang="en-US" sz="1050" dirty="0"/>
              <a:t> 0.748     min value</a:t>
            </a:r>
            <a:r>
              <a:rPr lang="el-GR" sz="1050" dirty="0"/>
              <a:t>:</a:t>
            </a:r>
            <a:r>
              <a:rPr lang="en-US" sz="1050" dirty="0"/>
              <a:t> 50   iteration</a:t>
            </a:r>
            <a:r>
              <a:rPr lang="el-GR" sz="1050" dirty="0"/>
              <a:t>:</a:t>
            </a:r>
            <a:r>
              <a:rPr lang="en-US" sz="1050" dirty="0"/>
              <a:t> 24</a:t>
            </a:r>
          </a:p>
        </p:txBody>
      </p:sp>
      <p:sp>
        <p:nvSpPr>
          <p:cNvPr id="6" name="TextBox 5"/>
          <p:cNvSpPr txBox="1"/>
          <p:nvPr/>
        </p:nvSpPr>
        <p:spPr>
          <a:xfrm>
            <a:off x="114300" y="3967560"/>
            <a:ext cx="8454879" cy="2677656"/>
          </a:xfrm>
          <a:prstGeom prst="rect">
            <a:avLst/>
          </a:prstGeom>
          <a:solidFill>
            <a:schemeClr val="bg1"/>
          </a:solidFill>
        </p:spPr>
        <p:txBody>
          <a:bodyPr wrap="square" rtlCol="0">
            <a:spAutoFit/>
          </a:bodyPr>
          <a:lstStyle/>
          <a:p>
            <a:r>
              <a:rPr lang="el-GR" sz="1200" b="1" i="1" dirty="0">
                <a:solidFill>
                  <a:schemeClr val="accent1"/>
                </a:solidFill>
              </a:rPr>
              <a:t>Φάση 1</a:t>
            </a:r>
            <a:r>
              <a:rPr lang="el-GR" sz="1200" dirty="0">
                <a:solidFill>
                  <a:schemeClr val="accent1"/>
                </a:solidFill>
              </a:rPr>
              <a:t> </a:t>
            </a:r>
            <a:r>
              <a:rPr lang="el-GR" sz="1200" dirty="0"/>
              <a:t>(Αριστερά - Τιμές 2 έως 10):</a:t>
            </a:r>
          </a:p>
          <a:p>
            <a:pPr marL="742950" lvl="1" indent="-285750">
              <a:buFont typeface="Arial" panose="020B0604020202020204" pitchFamily="34" charset="0"/>
              <a:buChar char="•"/>
            </a:pPr>
            <a:r>
              <a:rPr lang="el-GR" sz="1200" dirty="0"/>
              <a:t>Και οι δύο γραμμές ανεβαίνουν απότομα.</a:t>
            </a:r>
          </a:p>
          <a:p>
            <a:pPr marL="742950" lvl="1" indent="-285750">
              <a:buFont typeface="Arial" panose="020B0604020202020204" pitchFamily="34" charset="0"/>
              <a:buChar char="•"/>
            </a:pPr>
            <a:r>
              <a:rPr lang="el-GR" sz="1200" dirty="0"/>
              <a:t>Το μοντέλο μαθαίνει γρήγορα τα βασικά μοτίβα. Από το να μαντεύει στην τύχη, αρχίζει να καταλαβαίνει τη δομή των δεδομένων.</a:t>
            </a:r>
          </a:p>
          <a:p>
            <a:r>
              <a:rPr lang="el-GR" sz="1200" b="1" i="1" dirty="0">
                <a:solidFill>
                  <a:srgbClr val="FF0000"/>
                </a:solidFill>
              </a:rPr>
              <a:t>Φάση 2 </a:t>
            </a:r>
            <a:r>
              <a:rPr lang="el-GR" sz="1200" dirty="0"/>
              <a:t>(Μέση - Τιμές 10 έως 20):</a:t>
            </a:r>
          </a:p>
          <a:p>
            <a:pPr marL="742950" lvl="1" indent="-285750">
              <a:buFont typeface="Arial" panose="020B0604020202020204" pitchFamily="34" charset="0"/>
              <a:buChar char="•"/>
            </a:pPr>
            <a:r>
              <a:rPr lang="el-GR" sz="1200" dirty="0"/>
              <a:t>Η Μπλε γραμμή (Train) συνεχίζει να ανεβαίνει προς το 95%.</a:t>
            </a:r>
          </a:p>
          <a:p>
            <a:pPr marL="742950" lvl="1" indent="-285750">
              <a:buFont typeface="Arial" panose="020B0604020202020204" pitchFamily="34" charset="0"/>
              <a:buChar char="•"/>
            </a:pPr>
            <a:r>
              <a:rPr lang="el-GR" sz="1200" dirty="0"/>
              <a:t>Η Πράσινη γραμμή (Test) αρχίζει να "κουράζεται" και να επιπεδώνει (plateau) γύρω στο 74-75%.</a:t>
            </a:r>
          </a:p>
          <a:p>
            <a:pPr marL="742950" lvl="1" indent="-285750">
              <a:buFont typeface="Arial" panose="020B0604020202020204" pitchFamily="34" charset="0"/>
              <a:buChar char="•"/>
            </a:pPr>
            <a:r>
              <a:rPr lang="el-GR" sz="1200" dirty="0"/>
              <a:t>Εδώ αρχίζει να ανοίγει η "ψαλίδα".</a:t>
            </a:r>
          </a:p>
          <a:p>
            <a:r>
              <a:rPr lang="el-GR" sz="1200" b="1" i="1" dirty="0">
                <a:solidFill>
                  <a:schemeClr val="accent2">
                    <a:lumMod val="75000"/>
                  </a:schemeClr>
                </a:solidFill>
              </a:rPr>
              <a:t>Φάση 3 </a:t>
            </a:r>
            <a:r>
              <a:rPr lang="el-GR" sz="1200" dirty="0"/>
              <a:t>(Δεξιά - Τιμές 20 έως 50):</a:t>
            </a:r>
          </a:p>
          <a:p>
            <a:pPr marL="742950" lvl="1" indent="-285750">
              <a:buFont typeface="Arial" panose="020B0604020202020204" pitchFamily="34" charset="0"/>
              <a:buChar char="•"/>
            </a:pPr>
            <a:r>
              <a:rPr lang="el-GR" sz="1200" dirty="0"/>
              <a:t>Οι γραμμές γίνονται σχεδόν ευθείες.</a:t>
            </a:r>
          </a:p>
          <a:p>
            <a:pPr marL="742950" lvl="1" indent="-285750">
              <a:buFont typeface="Arial" panose="020B0604020202020204" pitchFamily="34" charset="0"/>
              <a:buChar char="•"/>
            </a:pPr>
            <a:r>
              <a:rPr lang="el-GR" sz="1200" dirty="0"/>
              <a:t>Το Κρίσιμο Σημείο: Προσέξτε τον πίνακα.</a:t>
            </a:r>
          </a:p>
          <a:p>
            <a:pPr marL="742950" lvl="1" indent="-285750">
              <a:buFont typeface="Arial" panose="020B0604020202020204" pitchFamily="34" charset="0"/>
              <a:buChar char="•"/>
            </a:pPr>
            <a:r>
              <a:rPr lang="el-GR" sz="1200" dirty="0"/>
              <a:t>Στο value=20: Test Accuracy 74.6%.</a:t>
            </a:r>
          </a:p>
          <a:p>
            <a:pPr marL="742950" lvl="1" indent="-285750">
              <a:buFont typeface="Arial" panose="020B0604020202020204" pitchFamily="34" charset="0"/>
              <a:buChar char="•"/>
            </a:pPr>
            <a:r>
              <a:rPr lang="el-GR" sz="1200" dirty="0"/>
              <a:t>Στο value=50: Test Accuracy 74.8%.</a:t>
            </a:r>
          </a:p>
          <a:p>
            <a:r>
              <a:rPr lang="el-GR" sz="1200" dirty="0"/>
              <a:t>Αυξήσαμε την πολυπλοκότητα (και τον χρόνο εκτέλεσης) πάρα πολύ, για να κερδίσουμε μόλις 0.2% ακρίβεια</a:t>
            </a:r>
            <a:r>
              <a:rPr lang="en-US" sz="1200" dirty="0"/>
              <a:t>.</a:t>
            </a:r>
            <a:endParaRPr lang="el-GR" sz="1200" dirty="0"/>
          </a:p>
        </p:txBody>
      </p:sp>
      <p:cxnSp>
        <p:nvCxnSpPr>
          <p:cNvPr id="16" name="Straight Connector 15"/>
          <p:cNvCxnSpPr/>
          <p:nvPr/>
        </p:nvCxnSpPr>
        <p:spPr>
          <a:xfrm>
            <a:off x="1365302" y="3048030"/>
            <a:ext cx="0" cy="623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60874" y="3048035"/>
            <a:ext cx="0" cy="623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382943" y="3048031"/>
            <a:ext cx="0" cy="623117"/>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Straight Connector 20"/>
          <p:cNvCxnSpPr/>
          <p:nvPr/>
        </p:nvCxnSpPr>
        <p:spPr>
          <a:xfrm>
            <a:off x="2396348" y="3048033"/>
            <a:ext cx="0" cy="623117"/>
          </a:xfrm>
          <a:prstGeom prst="line">
            <a:avLst/>
          </a:prstGeom>
        </p:spPr>
        <p:style>
          <a:lnRef idx="2">
            <a:schemeClr val="accent2"/>
          </a:lnRef>
          <a:fillRef idx="0">
            <a:schemeClr val="accent2"/>
          </a:fillRef>
          <a:effectRef idx="1">
            <a:schemeClr val="accent2"/>
          </a:effectRef>
          <a:fontRef idx="minor">
            <a:schemeClr val="tx1"/>
          </a:fontRef>
        </p:style>
      </p:cxnSp>
      <p:cxnSp>
        <p:nvCxnSpPr>
          <p:cNvPr id="22" name="Straight Connector 21"/>
          <p:cNvCxnSpPr/>
          <p:nvPr/>
        </p:nvCxnSpPr>
        <p:spPr>
          <a:xfrm>
            <a:off x="2408804" y="3048032"/>
            <a:ext cx="0" cy="623117"/>
          </a:xfrm>
          <a:prstGeom prst="line">
            <a:avLst/>
          </a:prstGeom>
        </p:spPr>
        <p:style>
          <a:lnRef idx="2">
            <a:schemeClr val="accent4"/>
          </a:lnRef>
          <a:fillRef idx="0">
            <a:schemeClr val="accent4"/>
          </a:fillRef>
          <a:effectRef idx="1">
            <a:schemeClr val="accent4"/>
          </a:effectRef>
          <a:fontRef idx="minor">
            <a:schemeClr val="tx1"/>
          </a:fontRef>
        </p:style>
      </p:cxnSp>
      <p:sp>
        <p:nvSpPr>
          <p:cNvPr id="24" name="TextBox 23"/>
          <p:cNvSpPr txBox="1"/>
          <p:nvPr/>
        </p:nvSpPr>
        <p:spPr>
          <a:xfrm>
            <a:off x="5838825" y="1296490"/>
            <a:ext cx="4733091" cy="338554"/>
          </a:xfrm>
          <a:prstGeom prst="rect">
            <a:avLst/>
          </a:prstGeom>
          <a:noFill/>
        </p:spPr>
        <p:txBody>
          <a:bodyPr wrap="none" rtlCol="0">
            <a:spAutoFit/>
          </a:bodyPr>
          <a:lstStyle/>
          <a:p>
            <a:r>
              <a:rPr lang="el-GR" sz="1600" dirty="0"/>
              <a:t>Χρήση </a:t>
            </a:r>
            <a:r>
              <a:rPr lang="en-US" sz="1600" dirty="0"/>
              <a:t>Interval Loop Start </a:t>
            </a:r>
            <a:r>
              <a:rPr lang="el-GR" sz="1600" dirty="0"/>
              <a:t>για μεταβλητή </a:t>
            </a:r>
            <a:r>
              <a:rPr lang="en-US" sz="1600" dirty="0" err="1"/>
              <a:t>min_tree</a:t>
            </a:r>
            <a:r>
              <a:rPr lang="en-US" sz="1600" dirty="0"/>
              <a:t> size</a:t>
            </a:r>
          </a:p>
        </p:txBody>
      </p:sp>
      <p:sp>
        <p:nvSpPr>
          <p:cNvPr id="25" name="TextBox 24"/>
          <p:cNvSpPr txBox="1"/>
          <p:nvPr/>
        </p:nvSpPr>
        <p:spPr>
          <a:xfrm>
            <a:off x="5999916" y="3087027"/>
            <a:ext cx="6021593" cy="584775"/>
          </a:xfrm>
          <a:prstGeom prst="rect">
            <a:avLst/>
          </a:prstGeom>
          <a:noFill/>
        </p:spPr>
        <p:txBody>
          <a:bodyPr wrap="square" rtlCol="0">
            <a:spAutoFit/>
          </a:bodyPr>
          <a:lstStyle/>
          <a:p>
            <a:r>
              <a:rPr lang="el-GR" sz="1600" dirty="0"/>
              <a:t>Το </a:t>
            </a:r>
            <a:r>
              <a:rPr lang="en-US" sz="1600" b="1" dirty="0"/>
              <a:t>Random Forest</a:t>
            </a:r>
            <a:r>
              <a:rPr lang="el-GR" sz="1600" dirty="0"/>
              <a:t> αναδείχθηκε ως το βέλτιστο μοντέλο της ανάλυσής μας, επιτυγχάνοντας την υψηλότερη ακρίβεια πρόβλεψης στο </a:t>
            </a:r>
            <a:r>
              <a:rPr lang="el-GR" sz="1600" b="1" dirty="0"/>
              <a:t>74.8%</a:t>
            </a:r>
            <a:r>
              <a:rPr lang="el-GR" sz="1600" dirty="0"/>
              <a:t>.</a:t>
            </a:r>
            <a:endParaRPr lang="en-US" sz="1600" dirty="0"/>
          </a:p>
        </p:txBody>
      </p:sp>
      <p:pic>
        <p:nvPicPr>
          <p:cNvPr id="26" name="Picture 25"/>
          <p:cNvPicPr/>
          <p:nvPr/>
        </p:nvPicPr>
        <p:blipFill rotWithShape="1">
          <a:blip r:embed="rId6"/>
          <a:srcRect t="388" b="83279"/>
          <a:stretch/>
        </p:blipFill>
        <p:spPr>
          <a:xfrm>
            <a:off x="5838825" y="2461119"/>
            <a:ext cx="6195962" cy="462444"/>
          </a:xfrm>
          <a:prstGeom prst="rect">
            <a:avLst/>
          </a:prstGeom>
        </p:spPr>
      </p:pic>
      <p:sp>
        <p:nvSpPr>
          <p:cNvPr id="27" name="Oval 26"/>
          <p:cNvSpPr/>
          <p:nvPr/>
        </p:nvSpPr>
        <p:spPr>
          <a:xfrm>
            <a:off x="7951370" y="2574032"/>
            <a:ext cx="254000" cy="1564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6197872" y="2568513"/>
            <a:ext cx="254000" cy="1564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04868" y="2563566"/>
            <a:ext cx="254000" cy="1564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5461383" y="3048030"/>
            <a:ext cx="0" cy="623117"/>
          </a:xfrm>
          <a:prstGeom prst="line">
            <a:avLst/>
          </a:prstGeom>
        </p:spPr>
        <p:style>
          <a:lnRef idx="2">
            <a:schemeClr val="accent4"/>
          </a:lnRef>
          <a:fillRef idx="0">
            <a:schemeClr val="accent4"/>
          </a:fillRef>
          <a:effectRef idx="1">
            <a:schemeClr val="accent4"/>
          </a:effectRef>
          <a:fontRef idx="minor">
            <a:schemeClr val="tx1"/>
          </a:fontRef>
        </p:style>
      </p:cxnSp>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36353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p:cNvPicPr/>
          <p:nvPr/>
        </p:nvPicPr>
        <p:blipFill>
          <a:blip r:embed="rId4"/>
          <a:stretch>
            <a:fillRect/>
          </a:stretch>
        </p:blipFill>
        <p:spPr>
          <a:xfrm>
            <a:off x="114300" y="540246"/>
            <a:ext cx="3604260" cy="1829118"/>
          </a:xfrm>
          <a:prstGeom prst="rect">
            <a:avLst/>
          </a:prstGeom>
        </p:spPr>
      </p:pic>
      <p:sp>
        <p:nvSpPr>
          <p:cNvPr id="3" name="TextBox 2"/>
          <p:cNvSpPr txBox="1"/>
          <p:nvPr/>
        </p:nvSpPr>
        <p:spPr>
          <a:xfrm>
            <a:off x="4512310" y="716141"/>
            <a:ext cx="6568440" cy="1477328"/>
          </a:xfrm>
          <a:prstGeom prst="rect">
            <a:avLst/>
          </a:prstGeom>
          <a:noFill/>
        </p:spPr>
        <p:txBody>
          <a:bodyPr wrap="square" rtlCol="0">
            <a:spAutoFit/>
          </a:bodyPr>
          <a:lstStyle/>
          <a:p>
            <a:r>
              <a:rPr lang="el-GR" dirty="0"/>
              <a:t>Σε αντίθεση με τα Δέντρα Αποφάσεων που μπορούν να διαχειριστούν κατηγορικά δεδομένα (Nominal), οι αλγόριθμοι SVM, KNN και MLP λειτουργούν αμιγώς με μαθηματικές πράξεις. Γι' αυτό, χρησιμοποιήσαμε τον κόμβο One to Many για να μετατρέψουμε τις κατηγορίες (π.χ. Αεροπορική Εταιρεία) σε δυαδικές στήλες (0 ή 1).</a:t>
            </a:r>
            <a:endParaRPr lang="en-US" dirty="0"/>
          </a:p>
        </p:txBody>
      </p:sp>
      <p:sp>
        <p:nvSpPr>
          <p:cNvPr id="9" name="TextBox 8"/>
          <p:cNvSpPr txBox="1"/>
          <p:nvPr/>
        </p:nvSpPr>
        <p:spPr>
          <a:xfrm>
            <a:off x="469529" y="2518350"/>
            <a:ext cx="3331553" cy="369332"/>
          </a:xfrm>
          <a:prstGeom prst="rect">
            <a:avLst/>
          </a:prstGeom>
          <a:noFill/>
        </p:spPr>
        <p:txBody>
          <a:bodyPr wrap="none" rtlCol="0">
            <a:spAutoFit/>
          </a:bodyPr>
          <a:lstStyle/>
          <a:p>
            <a:r>
              <a:rPr lang="el-GR" b="1" i="1" dirty="0"/>
              <a:t>Κανονικοποίηση (</a:t>
            </a:r>
            <a:r>
              <a:rPr lang="en-US" b="1" i="1" dirty="0"/>
              <a:t>Normalization</a:t>
            </a:r>
            <a:r>
              <a:rPr lang="el-GR" b="1" i="1" dirty="0"/>
              <a:t>)</a:t>
            </a:r>
            <a:endParaRPr lang="en-US" b="1" i="1" dirty="0"/>
          </a:p>
        </p:txBody>
      </p:sp>
      <p:sp>
        <p:nvSpPr>
          <p:cNvPr id="10" name="TextBox 9"/>
          <p:cNvSpPr txBox="1"/>
          <p:nvPr/>
        </p:nvSpPr>
        <p:spPr>
          <a:xfrm flipH="1">
            <a:off x="363218" y="2887682"/>
            <a:ext cx="11625581" cy="2585323"/>
          </a:xfrm>
          <a:prstGeom prst="rect">
            <a:avLst/>
          </a:prstGeom>
          <a:noFill/>
        </p:spPr>
        <p:txBody>
          <a:bodyPr wrap="square" rtlCol="0">
            <a:spAutoFit/>
          </a:bodyPr>
          <a:lstStyle/>
          <a:p>
            <a:r>
              <a:rPr lang="el-GR" dirty="0"/>
              <a:t>Οι </a:t>
            </a:r>
            <a:r>
              <a:rPr lang="el-GR" b="1" dirty="0"/>
              <a:t>αλγόριθμοι</a:t>
            </a:r>
            <a:r>
              <a:rPr lang="el-GR" dirty="0"/>
              <a:t> που </a:t>
            </a:r>
            <a:r>
              <a:rPr lang="el-GR" b="1" dirty="0"/>
              <a:t>βασίζονται σε αποστάσεις </a:t>
            </a:r>
            <a:r>
              <a:rPr lang="el-GR" dirty="0"/>
              <a:t>(</a:t>
            </a:r>
            <a:r>
              <a:rPr lang="el-GR" b="1" dirty="0"/>
              <a:t>KNN, SVM</a:t>
            </a:r>
            <a:r>
              <a:rPr lang="el-GR" dirty="0"/>
              <a:t>) και τα </a:t>
            </a:r>
            <a:r>
              <a:rPr lang="el-GR" b="1" dirty="0"/>
              <a:t>Νευρωνικά Δίκτυα </a:t>
            </a:r>
            <a:r>
              <a:rPr lang="el-GR" dirty="0"/>
              <a:t>είναι εξαιρετικά </a:t>
            </a:r>
            <a:r>
              <a:rPr lang="el-GR" b="1" dirty="0"/>
              <a:t>ευαίσθητοι</a:t>
            </a:r>
            <a:r>
              <a:rPr lang="el-GR" dirty="0"/>
              <a:t> στην κλίμακα των δεδομένων. </a:t>
            </a:r>
            <a:r>
              <a:rPr lang="el-GR" i="1" dirty="0"/>
              <a:t>Χωρίς κανονικοποίηση</a:t>
            </a:r>
            <a:r>
              <a:rPr lang="el-GR" dirty="0"/>
              <a:t>, μεταβλητές με </a:t>
            </a:r>
            <a:r>
              <a:rPr lang="el-GR" b="1" dirty="0"/>
              <a:t>μεγάλες τιμές </a:t>
            </a:r>
            <a:r>
              <a:rPr lang="el-GR" dirty="0"/>
              <a:t>(π.χ. Συνολικό Βάρος) θα </a:t>
            </a:r>
            <a:r>
              <a:rPr lang="el-GR" i="1" dirty="0"/>
              <a:t>καπέλωναν</a:t>
            </a:r>
            <a:r>
              <a:rPr lang="el-GR" dirty="0"/>
              <a:t> τις </a:t>
            </a:r>
            <a:r>
              <a:rPr lang="el-GR" b="1" dirty="0"/>
              <a:t>μικρότερες</a:t>
            </a:r>
            <a:r>
              <a:rPr lang="el-GR" dirty="0"/>
              <a:t> (π.χ. Αριθμός Πτήσεων). Εφαρμόσαμε Min-Max Normalization (κλίμακα 0-1) με αυστηρό διαχωρισμό Training και Test:"</a:t>
            </a:r>
          </a:p>
          <a:p>
            <a:pPr marL="742950" lvl="1" indent="-285750">
              <a:buFont typeface="Arial" panose="020B0604020202020204" pitchFamily="34" charset="0"/>
              <a:buChar char="•"/>
            </a:pPr>
            <a:r>
              <a:rPr lang="el-GR" b="1" dirty="0"/>
              <a:t>Training Set (Normalizer): </a:t>
            </a:r>
            <a:r>
              <a:rPr lang="el-GR" dirty="0"/>
              <a:t>Ο αλγόριθμος "μαθαίνει" τα ελάχιστα και μέγιστα από τα δεδομένα εκπαίδευσης.</a:t>
            </a:r>
          </a:p>
          <a:p>
            <a:pPr marL="742950" lvl="1" indent="-285750">
              <a:buFont typeface="Arial" panose="020B0604020202020204" pitchFamily="34" charset="0"/>
              <a:buChar char="•"/>
            </a:pPr>
            <a:r>
              <a:rPr lang="el-GR" b="1" dirty="0"/>
              <a:t>Test Set (Normalizer Apply): </a:t>
            </a:r>
            <a:r>
              <a:rPr lang="el-GR" dirty="0"/>
              <a:t>Εφαρμόζουμε τους κανόνες που μάθαμε στο Training πάνω στο Test set. </a:t>
            </a:r>
            <a:endParaRPr lang="en-US" dirty="0"/>
          </a:p>
          <a:p>
            <a:r>
              <a:rPr lang="el-GR" dirty="0"/>
              <a:t>Αυτό είναι κρίσιμο για να αποφύγουμε τη Διαρροή Δεδομένων (Data Leakage). Αν κανονικοποιούσαμε όλο το αρχείο μαζί, το Test set θα επηρέαζε το Training, κάτι που απαγορεύεται.</a:t>
            </a:r>
          </a:p>
          <a:p>
            <a:endParaRPr lang="en-US" dirty="0"/>
          </a:p>
        </p:txBody>
      </p:sp>
    </p:spTree>
    <p:extLst>
      <p:ext uri="{BB962C8B-B14F-4D97-AF65-F5344CB8AC3E}">
        <p14:creationId xmlns:p14="http://schemas.microsoft.com/office/powerpoint/2010/main" val="353536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1" y="-2"/>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30" name="Picture 29"/>
          <p:cNvPicPr/>
          <p:nvPr/>
        </p:nvPicPr>
        <p:blipFill>
          <a:blip r:embed="rId4"/>
          <a:stretch>
            <a:fillRect/>
          </a:stretch>
        </p:blipFill>
        <p:spPr>
          <a:xfrm>
            <a:off x="72189" y="508767"/>
            <a:ext cx="5943600" cy="1666240"/>
          </a:xfrm>
          <a:prstGeom prst="rect">
            <a:avLst/>
          </a:prstGeom>
        </p:spPr>
      </p:pic>
      <p:sp>
        <p:nvSpPr>
          <p:cNvPr id="3" name="TextBox 2"/>
          <p:cNvSpPr txBox="1"/>
          <p:nvPr/>
        </p:nvSpPr>
        <p:spPr>
          <a:xfrm>
            <a:off x="6452870" y="628650"/>
            <a:ext cx="4641850" cy="1477328"/>
          </a:xfrm>
          <a:prstGeom prst="rect">
            <a:avLst/>
          </a:prstGeom>
          <a:noFill/>
        </p:spPr>
        <p:txBody>
          <a:bodyPr wrap="square" rtlCol="0">
            <a:spAutoFit/>
          </a:bodyPr>
          <a:lstStyle/>
          <a:p>
            <a:r>
              <a:rPr lang="el-GR" dirty="0"/>
              <a:t>Parameter Optimization Loop Start αντί για τον απλό Interval Loop. Ο SVM εξαρτάται σε τεράστιο βαθμό από την παράμετρο Cost (C), η οποία καθορίζει την "ποινή" που δίνει ο αλγόριθμος στα λάθη. </a:t>
            </a:r>
            <a:endParaRPr lang="en-US" dirty="0"/>
          </a:p>
        </p:txBody>
      </p:sp>
      <p:sp>
        <p:nvSpPr>
          <p:cNvPr id="2" name="TextBox 1"/>
          <p:cNvSpPr txBox="1"/>
          <p:nvPr/>
        </p:nvSpPr>
        <p:spPr>
          <a:xfrm>
            <a:off x="2823565" y="2782668"/>
            <a:ext cx="6970178" cy="646331"/>
          </a:xfrm>
          <a:prstGeom prst="rect">
            <a:avLst/>
          </a:prstGeom>
          <a:noFill/>
        </p:spPr>
        <p:txBody>
          <a:bodyPr wrap="none" rtlCol="0">
            <a:spAutoFit/>
          </a:bodyPr>
          <a:lstStyle/>
          <a:p>
            <a:pPr algn="ctr"/>
            <a:r>
              <a:rPr lang="el-GR" dirty="0"/>
              <a:t>Αναμένεται (ανάγκη για πολλούς πόρους και μεγάλο χρονικό διάστημα)</a:t>
            </a:r>
            <a:endParaRPr lang="en-US" dirty="0"/>
          </a:p>
          <a:p>
            <a:pPr algn="ctr"/>
            <a:r>
              <a:rPr lang="el-GR" dirty="0"/>
              <a:t>Κολλάει στο 20%</a:t>
            </a:r>
            <a:endParaRPr lang="en-US" dirty="0"/>
          </a:p>
        </p:txBody>
      </p:sp>
      <p:sp>
        <p:nvSpPr>
          <p:cNvPr id="5" name="Rectangle 4"/>
          <p:cNvSpPr/>
          <p:nvPr/>
        </p:nvSpPr>
        <p:spPr>
          <a:xfrm>
            <a:off x="114300" y="3644024"/>
            <a:ext cx="11893216" cy="646331"/>
          </a:xfrm>
          <a:prstGeom prst="rect">
            <a:avLst/>
          </a:prstGeom>
        </p:spPr>
        <p:txBody>
          <a:bodyPr wrap="square">
            <a:spAutoFit/>
          </a:bodyPr>
          <a:lstStyle/>
          <a:p>
            <a:r>
              <a:rPr lang="el-GR" dirty="0"/>
              <a:t>Ο SVM προσπαθεί να λύσει ένα τετραγωνικό πρόβλημα βελτιστοποίησης (Quadratic Programming). Η πολυπλοκότητά του αυξάνεται εκθετικά με τον αριθμό των εγγραφών.</a:t>
            </a:r>
            <a:endParaRPr lang="en-US" dirty="0"/>
          </a:p>
        </p:txBody>
      </p:sp>
      <p:sp>
        <p:nvSpPr>
          <p:cNvPr id="6" name="Rectangle 5"/>
          <p:cNvSpPr/>
          <p:nvPr/>
        </p:nvSpPr>
        <p:spPr>
          <a:xfrm>
            <a:off x="118006" y="4385269"/>
            <a:ext cx="10976714" cy="646331"/>
          </a:xfrm>
          <a:prstGeom prst="rect">
            <a:avLst/>
          </a:prstGeom>
        </p:spPr>
        <p:txBody>
          <a:bodyPr wrap="square">
            <a:spAutoFit/>
          </a:bodyPr>
          <a:lstStyle/>
          <a:p>
            <a:r>
              <a:rPr lang="el-GR" dirty="0"/>
              <a:t>Επειδή κάναμε </a:t>
            </a:r>
            <a:r>
              <a:rPr lang="el-GR" b="1" dirty="0"/>
              <a:t>One-Hot Encoding</a:t>
            </a:r>
            <a:r>
              <a:rPr lang="el-GR" dirty="0"/>
              <a:t> (μετατρέψαμε τις αεροπορικές/προορισμούς σε πολλές στήλες), αυξήσαμε δραματικά τις διαστάσεις. Ο SVM υποφέρει όταν έχει και πολλές εγγραφές (38.000+) και πολλές διαστάσεις.</a:t>
            </a:r>
            <a:endParaRPr lang="en-US" dirty="0"/>
          </a:p>
        </p:txBody>
      </p:sp>
      <p:sp>
        <p:nvSpPr>
          <p:cNvPr id="9" name="TextBox 8"/>
          <p:cNvSpPr txBox="1"/>
          <p:nvPr/>
        </p:nvSpPr>
        <p:spPr>
          <a:xfrm>
            <a:off x="212654" y="5126514"/>
            <a:ext cx="8967711" cy="369332"/>
          </a:xfrm>
          <a:prstGeom prst="rect">
            <a:avLst/>
          </a:prstGeom>
          <a:noFill/>
        </p:spPr>
        <p:txBody>
          <a:bodyPr wrap="none" rtlCol="0">
            <a:spAutoFit/>
          </a:bodyPr>
          <a:lstStyle/>
          <a:p>
            <a:r>
              <a:rPr lang="el-GR" dirty="0"/>
              <a:t>Κατά πάσα πιθανότητα στο αποτέλεσμα θα είναι Χειρότερος (ή ίσος) με Random Forest/GBT:</a:t>
            </a:r>
            <a:endParaRPr lang="en-US" dirty="0"/>
          </a:p>
        </p:txBody>
      </p:sp>
    </p:spTree>
    <p:extLst>
      <p:ext uri="{BB962C8B-B14F-4D97-AF65-F5344CB8AC3E}">
        <p14:creationId xmlns:p14="http://schemas.microsoft.com/office/powerpoint/2010/main" val="1659234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1" y="672"/>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6" name="Picture 5"/>
          <p:cNvPicPr/>
          <p:nvPr/>
        </p:nvPicPr>
        <p:blipFill>
          <a:blip r:embed="rId4"/>
          <a:stretch>
            <a:fillRect/>
          </a:stretch>
        </p:blipFill>
        <p:spPr>
          <a:xfrm>
            <a:off x="30606" y="471521"/>
            <a:ext cx="5943600" cy="1772285"/>
          </a:xfrm>
          <a:prstGeom prst="rect">
            <a:avLst/>
          </a:prstGeom>
        </p:spPr>
      </p:pic>
      <p:sp>
        <p:nvSpPr>
          <p:cNvPr id="2" name="TextBox 1"/>
          <p:cNvSpPr txBox="1"/>
          <p:nvPr/>
        </p:nvSpPr>
        <p:spPr>
          <a:xfrm>
            <a:off x="3749040" y="111839"/>
            <a:ext cx="1958870" cy="369332"/>
          </a:xfrm>
          <a:prstGeom prst="rect">
            <a:avLst/>
          </a:prstGeom>
          <a:noFill/>
        </p:spPr>
        <p:txBody>
          <a:bodyPr wrap="none" rtlCol="0">
            <a:spAutoFit/>
          </a:bodyPr>
          <a:lstStyle/>
          <a:p>
            <a:r>
              <a:rPr lang="el-GR" b="1" i="1" dirty="0"/>
              <a:t>Νευρωνικό Δίκτυο</a:t>
            </a:r>
            <a:endParaRPr lang="en-US" b="1" dirty="0"/>
          </a:p>
        </p:txBody>
      </p:sp>
      <p:sp>
        <p:nvSpPr>
          <p:cNvPr id="5" name="TextBox 4"/>
          <p:cNvSpPr txBox="1"/>
          <p:nvPr/>
        </p:nvSpPr>
        <p:spPr>
          <a:xfrm>
            <a:off x="6083547" y="890259"/>
            <a:ext cx="5364479" cy="954107"/>
          </a:xfrm>
          <a:prstGeom prst="rect">
            <a:avLst/>
          </a:prstGeom>
          <a:noFill/>
        </p:spPr>
        <p:txBody>
          <a:bodyPr wrap="square" rtlCol="0">
            <a:spAutoFit/>
          </a:bodyPr>
          <a:lstStyle/>
          <a:p>
            <a:r>
              <a:rPr lang="el-GR" sz="1400" i="1" dirty="0">
                <a:solidFill>
                  <a:schemeClr val="accent1">
                    <a:lumMod val="75000"/>
                  </a:schemeClr>
                </a:solidFill>
              </a:rPr>
              <a:t>Parameter Optimization Loop Start </a:t>
            </a:r>
            <a:r>
              <a:rPr lang="el-GR" sz="1400" dirty="0"/>
              <a:t>με διαφορετική φιλοσοφία από τους προηγούμενους αλγορίθμους. Εδώ, η κρίσιμη παράμετρος που θέσαμε υπό έλεγχο δεν ήταν η δομή του δικτύου, αλλά η Διάρκεια Εκπαίδευσης (</a:t>
            </a:r>
            <a:r>
              <a:rPr lang="el-GR" sz="1400" i="1" dirty="0">
                <a:solidFill>
                  <a:schemeClr val="accent2">
                    <a:lumMod val="60000"/>
                    <a:lumOff val="40000"/>
                  </a:schemeClr>
                </a:solidFill>
              </a:rPr>
              <a:t>Max Epochs / Iterations</a:t>
            </a:r>
            <a:r>
              <a:rPr lang="el-GR" sz="1400" dirty="0"/>
              <a:t>).</a:t>
            </a:r>
            <a:endParaRPr lang="en-US" sz="1400" dirty="0"/>
          </a:p>
        </p:txBody>
      </p:sp>
      <p:pic>
        <p:nvPicPr>
          <p:cNvPr id="9" name="Picture 8" descr="C:\Users\spyro\AppData\Local\Microsoft\Windows\INetCache\Content.Word\Line Plot RProp MLP 2.pn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181" y="3143024"/>
            <a:ext cx="5943600" cy="1409700"/>
          </a:xfrm>
          <a:prstGeom prst="rect">
            <a:avLst/>
          </a:prstGeom>
          <a:noFill/>
          <a:ln>
            <a:noFill/>
          </a:ln>
        </p:spPr>
      </p:pic>
      <p:sp>
        <p:nvSpPr>
          <p:cNvPr id="8" name="TextBox 7"/>
          <p:cNvSpPr txBox="1"/>
          <p:nvPr/>
        </p:nvSpPr>
        <p:spPr>
          <a:xfrm flipH="1">
            <a:off x="6083547" y="3327877"/>
            <a:ext cx="5699760" cy="1323439"/>
          </a:xfrm>
          <a:prstGeom prst="rect">
            <a:avLst/>
          </a:prstGeom>
          <a:noFill/>
        </p:spPr>
        <p:txBody>
          <a:bodyPr wrap="square" rtlCol="0">
            <a:spAutoFit/>
          </a:bodyPr>
          <a:lstStyle/>
          <a:p>
            <a:pPr lvl="0"/>
            <a:r>
              <a:rPr lang="en-US" sz="1600" b="1" dirty="0"/>
              <a:t>Training Accuracy</a:t>
            </a:r>
            <a:r>
              <a:rPr lang="el-GR" sz="1600" b="1" dirty="0"/>
              <a:t> (85.7%):</a:t>
            </a:r>
            <a:r>
              <a:rPr lang="el-GR" sz="1600" dirty="0"/>
              <a:t> Το δίκτυο είναι έξυπνο. Κατάφερε να μάθει πολύ καλά τα δεδομένα που του δώσαμε.</a:t>
            </a:r>
            <a:endParaRPr lang="en-US" sz="1600" dirty="0"/>
          </a:p>
          <a:p>
            <a:pPr lvl="0"/>
            <a:r>
              <a:rPr lang="en-US" sz="1600" b="1" dirty="0"/>
              <a:t>Test Accuracy</a:t>
            </a:r>
            <a:r>
              <a:rPr lang="el-GR" sz="1600" b="1" dirty="0"/>
              <a:t> (62.6%):</a:t>
            </a:r>
            <a:r>
              <a:rPr lang="el-GR" sz="1600" dirty="0"/>
              <a:t> Στα άγνωστα δεδομένα, η απόδοση πέφτει δραματικά.</a:t>
            </a:r>
            <a:endParaRPr lang="en-US" sz="1600" dirty="0"/>
          </a:p>
          <a:p>
            <a:pPr lvl="0"/>
            <a:r>
              <a:rPr lang="el-GR" sz="1600" b="1" dirty="0"/>
              <a:t>Το Χάσμα (</a:t>
            </a:r>
            <a:r>
              <a:rPr lang="en-US" sz="1600" b="1" dirty="0"/>
              <a:t>The Gap</a:t>
            </a:r>
            <a:r>
              <a:rPr lang="el-GR" sz="1600" b="1" dirty="0"/>
              <a:t>):</a:t>
            </a:r>
            <a:r>
              <a:rPr lang="el-GR" sz="1600" dirty="0"/>
              <a:t> Έχουμε διαφορά </a:t>
            </a:r>
            <a:r>
              <a:rPr lang="el-GR" sz="1600" b="1" dirty="0"/>
              <a:t>23 μονάδων</a:t>
            </a:r>
            <a:r>
              <a:rPr lang="el-GR" sz="1600" dirty="0"/>
              <a:t>.</a:t>
            </a:r>
            <a:endParaRPr lang="en-US" sz="1600" dirty="0"/>
          </a:p>
        </p:txBody>
      </p:sp>
      <p:sp>
        <p:nvSpPr>
          <p:cNvPr id="10" name="TextBox 9"/>
          <p:cNvSpPr txBox="1"/>
          <p:nvPr/>
        </p:nvSpPr>
        <p:spPr>
          <a:xfrm>
            <a:off x="1208023" y="2929176"/>
            <a:ext cx="2541017" cy="276999"/>
          </a:xfrm>
          <a:prstGeom prst="rect">
            <a:avLst/>
          </a:prstGeom>
          <a:noFill/>
        </p:spPr>
        <p:txBody>
          <a:bodyPr wrap="none" rtlCol="0">
            <a:spAutoFit/>
          </a:bodyPr>
          <a:lstStyle/>
          <a:p>
            <a:r>
              <a:rPr lang="en-US" sz="1200" dirty="0"/>
              <a:t>Accuracy</a:t>
            </a:r>
            <a:r>
              <a:rPr lang="el-GR" sz="1200" dirty="0"/>
              <a:t>:</a:t>
            </a:r>
            <a:r>
              <a:rPr lang="en-US" sz="1200" dirty="0"/>
              <a:t> 0.857  </a:t>
            </a:r>
            <a:r>
              <a:rPr lang="el-GR" sz="1200" dirty="0"/>
              <a:t>Α</a:t>
            </a:r>
            <a:r>
              <a:rPr lang="en-US" sz="1200" dirty="0" err="1"/>
              <a:t>ccuracy</a:t>
            </a:r>
            <a:r>
              <a:rPr lang="en-US" sz="1200" dirty="0"/>
              <a:t> test</a:t>
            </a:r>
            <a:r>
              <a:rPr lang="el-GR" sz="1200" dirty="0"/>
              <a:t>:</a:t>
            </a:r>
            <a:r>
              <a:rPr lang="en-US" sz="1200" dirty="0"/>
              <a:t> 0.626 </a:t>
            </a:r>
          </a:p>
        </p:txBody>
      </p:sp>
      <p:sp>
        <p:nvSpPr>
          <p:cNvPr id="11" name="TextBox 10"/>
          <p:cNvSpPr txBox="1"/>
          <p:nvPr/>
        </p:nvSpPr>
        <p:spPr>
          <a:xfrm>
            <a:off x="691471" y="4552724"/>
            <a:ext cx="4328236" cy="461665"/>
          </a:xfrm>
          <a:prstGeom prst="rect">
            <a:avLst/>
          </a:prstGeom>
          <a:noFill/>
        </p:spPr>
        <p:txBody>
          <a:bodyPr wrap="none" rtlCol="0">
            <a:spAutoFit/>
          </a:bodyPr>
          <a:lstStyle/>
          <a:p>
            <a:pPr lvl="0"/>
            <a:r>
              <a:rPr lang="el-GR" sz="1200" dirty="0"/>
              <a:t>Στις </a:t>
            </a:r>
            <a:r>
              <a:rPr lang="el-GR" sz="1200" b="1" dirty="0"/>
              <a:t>50 επαναλήψεις</a:t>
            </a:r>
            <a:r>
              <a:rPr lang="el-GR" sz="1200" dirty="0"/>
              <a:t> (</a:t>
            </a:r>
            <a:r>
              <a:rPr lang="en-US" sz="1200" dirty="0"/>
              <a:t>Row</a:t>
            </a:r>
            <a:r>
              <a:rPr lang="el-GR" sz="1200" dirty="0"/>
              <a:t> 5), το </a:t>
            </a:r>
            <a:r>
              <a:rPr lang="en-US" sz="1200" dirty="0"/>
              <a:t>Test Accuracy</a:t>
            </a:r>
            <a:r>
              <a:rPr lang="el-GR" sz="1200" dirty="0"/>
              <a:t> ήταν </a:t>
            </a:r>
            <a:r>
              <a:rPr lang="el-GR" sz="1200" b="1" dirty="0"/>
              <a:t>63.4%</a:t>
            </a:r>
            <a:r>
              <a:rPr lang="el-GR" sz="1200" dirty="0"/>
              <a:t>.</a:t>
            </a:r>
            <a:endParaRPr lang="en-US" sz="1200" dirty="0"/>
          </a:p>
          <a:p>
            <a:pPr lvl="0"/>
            <a:r>
              <a:rPr lang="el-GR" sz="1200" dirty="0"/>
              <a:t>Στις </a:t>
            </a:r>
            <a:r>
              <a:rPr lang="el-GR" sz="1200" b="1" dirty="0"/>
              <a:t>350 επαναλήψεις</a:t>
            </a:r>
            <a:r>
              <a:rPr lang="el-GR" sz="1200" dirty="0"/>
              <a:t> (</a:t>
            </a:r>
            <a:r>
              <a:rPr lang="en-US" sz="1200" dirty="0"/>
              <a:t>Row</a:t>
            </a:r>
            <a:r>
              <a:rPr lang="el-GR" sz="1200" dirty="0"/>
              <a:t> 1), το </a:t>
            </a:r>
            <a:r>
              <a:rPr lang="en-US" sz="1200" dirty="0"/>
              <a:t>Test Accuracy</a:t>
            </a:r>
            <a:r>
              <a:rPr lang="el-GR" sz="1200" dirty="0"/>
              <a:t> έπεσε στο </a:t>
            </a:r>
            <a:r>
              <a:rPr lang="el-GR" sz="1200" b="1" dirty="0"/>
              <a:t>62.6%</a:t>
            </a:r>
            <a:r>
              <a:rPr lang="el-GR" sz="1200" dirty="0"/>
              <a:t>.</a:t>
            </a:r>
            <a:endParaRPr lang="en-US" sz="1200" dirty="0"/>
          </a:p>
        </p:txBody>
      </p:sp>
      <p:sp>
        <p:nvSpPr>
          <p:cNvPr id="12" name="TextBox 11"/>
          <p:cNvSpPr txBox="1"/>
          <p:nvPr/>
        </p:nvSpPr>
        <p:spPr>
          <a:xfrm>
            <a:off x="165594" y="5537144"/>
            <a:ext cx="11835905" cy="646331"/>
          </a:xfrm>
          <a:prstGeom prst="rect">
            <a:avLst/>
          </a:prstGeom>
          <a:noFill/>
        </p:spPr>
        <p:txBody>
          <a:bodyPr wrap="square" rtlCol="0">
            <a:spAutoFit/>
          </a:bodyPr>
          <a:lstStyle/>
          <a:p>
            <a:r>
              <a:rPr lang="el-GR" dirty="0"/>
              <a:t>Για τη συγκεκριμένη δομή δεδομένων (</a:t>
            </a:r>
            <a:r>
              <a:rPr lang="en-US" dirty="0"/>
              <a:t>tabular data</a:t>
            </a:r>
            <a:r>
              <a:rPr lang="el-GR" dirty="0"/>
              <a:t>), το Νευρωνικό Δίκτυο αποδείχθηκε λιγότερο αποδοτικό από τα μοντέλα αποφάσεων (</a:t>
            </a:r>
            <a:r>
              <a:rPr lang="en-US" dirty="0"/>
              <a:t>Random Forest</a:t>
            </a:r>
            <a:r>
              <a:rPr lang="el-GR" dirty="0"/>
              <a:t>), καθώς απαιτεί πολύ μεγαλύτερο όγκο δεδομένων για να αποφύγει το </a:t>
            </a:r>
            <a:r>
              <a:rPr lang="en-US" dirty="0"/>
              <a:t>Overfitting</a:t>
            </a:r>
            <a:r>
              <a:rPr lang="el-GR" dirty="0"/>
              <a:t>.</a:t>
            </a:r>
            <a:endParaRPr lang="en-US" dirty="0"/>
          </a:p>
        </p:txBody>
      </p:sp>
    </p:spTree>
    <p:extLst>
      <p:ext uri="{BB962C8B-B14F-4D97-AF65-F5344CB8AC3E}">
        <p14:creationId xmlns:p14="http://schemas.microsoft.com/office/powerpoint/2010/main" val="773978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1" y="1893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10242" name="Picture 2" descr="Line Plot KN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 y="2938463"/>
            <a:ext cx="5943600"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092200" y="2758867"/>
            <a:ext cx="3457293" cy="276999"/>
          </a:xfrm>
          <a:prstGeom prst="rect">
            <a:avLst/>
          </a:prstGeom>
          <a:noFill/>
        </p:spPr>
        <p:txBody>
          <a:bodyPr wrap="none" rtlCol="0">
            <a:spAutoFit/>
          </a:bodyPr>
          <a:lstStyle/>
          <a:p>
            <a:r>
              <a:rPr lang="en-US" sz="1200" dirty="0"/>
              <a:t>Accuracy</a:t>
            </a:r>
            <a:r>
              <a:rPr lang="el-GR" sz="1200" dirty="0"/>
              <a:t>:</a:t>
            </a:r>
            <a:r>
              <a:rPr lang="en-US" sz="1200" dirty="0"/>
              <a:t> 0.599  accuracy</a:t>
            </a:r>
            <a:r>
              <a:rPr lang="el-GR" sz="1200" dirty="0"/>
              <a:t>_</a:t>
            </a:r>
            <a:r>
              <a:rPr lang="en-US" sz="1200" dirty="0"/>
              <a:t>test</a:t>
            </a:r>
            <a:r>
              <a:rPr lang="el-GR" sz="1200" dirty="0"/>
              <a:t>:</a:t>
            </a:r>
            <a:r>
              <a:rPr lang="en-US" sz="1200" dirty="0"/>
              <a:t> 0.519  </a:t>
            </a:r>
            <a:r>
              <a:rPr lang="en-US" sz="1200" dirty="0" err="1"/>
              <a:t>k_value</a:t>
            </a:r>
            <a:r>
              <a:rPr lang="el-GR" sz="1200" dirty="0"/>
              <a:t>:</a:t>
            </a:r>
            <a:r>
              <a:rPr lang="en-US" sz="1200" dirty="0"/>
              <a:t> 21    </a:t>
            </a:r>
          </a:p>
        </p:txBody>
      </p:sp>
      <p:pic>
        <p:nvPicPr>
          <p:cNvPr id="8" name="Picture 7"/>
          <p:cNvPicPr/>
          <p:nvPr/>
        </p:nvPicPr>
        <p:blipFill>
          <a:blip r:embed="rId5"/>
          <a:stretch>
            <a:fillRect/>
          </a:stretch>
        </p:blipFill>
        <p:spPr>
          <a:xfrm>
            <a:off x="76200" y="481051"/>
            <a:ext cx="5943600" cy="1906270"/>
          </a:xfrm>
          <a:prstGeom prst="rect">
            <a:avLst/>
          </a:prstGeom>
        </p:spPr>
      </p:pic>
      <p:sp>
        <p:nvSpPr>
          <p:cNvPr id="5" name="Rectangle 4"/>
          <p:cNvSpPr/>
          <p:nvPr/>
        </p:nvSpPr>
        <p:spPr>
          <a:xfrm>
            <a:off x="6019800" y="507324"/>
            <a:ext cx="6096000" cy="1015663"/>
          </a:xfrm>
          <a:prstGeom prst="rect">
            <a:avLst/>
          </a:prstGeom>
        </p:spPr>
        <p:txBody>
          <a:bodyPr>
            <a:spAutoFit/>
          </a:bodyPr>
          <a:lstStyle/>
          <a:p>
            <a:r>
              <a:rPr lang="en-US" sz="1200" dirty="0" err="1"/>
              <a:t>Γι</a:t>
            </a:r>
            <a:r>
              <a:rPr lang="en-US" sz="1200" dirty="0"/>
              <a:t>α τον KNN, χρησιμοποιήσαμε τον κόμβο </a:t>
            </a:r>
            <a:r>
              <a:rPr lang="en-US" sz="1200" b="1" dirty="0"/>
              <a:t>Interval Loop Start</a:t>
            </a:r>
            <a:r>
              <a:rPr lang="en-US" sz="1200" dirty="0"/>
              <a:t>. Η πα</a:t>
            </a:r>
            <a:r>
              <a:rPr lang="en-US" sz="1200" dirty="0" err="1"/>
              <a:t>ράμετρος</a:t>
            </a:r>
            <a:r>
              <a:rPr lang="en-US" sz="1200" dirty="0"/>
              <a:t> π</a:t>
            </a:r>
            <a:r>
              <a:rPr lang="en-US" sz="1200" dirty="0" err="1"/>
              <a:t>ου</a:t>
            </a:r>
            <a:r>
              <a:rPr lang="en-US" sz="1200" dirty="0"/>
              <a:t> </a:t>
            </a:r>
            <a:r>
              <a:rPr lang="en-US" sz="1200" dirty="0" err="1"/>
              <a:t>μετ</a:t>
            </a:r>
            <a:r>
              <a:rPr lang="en-US" sz="1200" dirty="0"/>
              <a:t>αβάλλουμε εδώ είναι το k (Number of Neighbors). Ο α</a:t>
            </a:r>
            <a:r>
              <a:rPr lang="en-US" sz="1200" dirty="0" err="1"/>
              <a:t>λγόριθμος</a:t>
            </a:r>
            <a:r>
              <a:rPr lang="en-US" sz="1200" dirty="0"/>
              <a:t> τα</a:t>
            </a:r>
            <a:r>
              <a:rPr lang="en-US" sz="1200" dirty="0" err="1"/>
              <a:t>ξινόμησης</a:t>
            </a:r>
            <a:r>
              <a:rPr lang="en-US" sz="1200" dirty="0"/>
              <a:t> βα</a:t>
            </a:r>
            <a:r>
              <a:rPr lang="en-US" sz="1200" dirty="0" err="1"/>
              <a:t>σίζετ</a:t>
            </a:r>
            <a:r>
              <a:rPr lang="en-US" sz="1200" dirty="0"/>
              <a:t>αι στην "πλειοψηφία των γειτόνων". </a:t>
            </a:r>
            <a:r>
              <a:rPr lang="en-US" sz="1200" dirty="0" err="1"/>
              <a:t>Μέσω</a:t>
            </a:r>
            <a:r>
              <a:rPr lang="en-US" sz="1200" dirty="0"/>
              <a:t> </a:t>
            </a:r>
            <a:r>
              <a:rPr lang="en-US" sz="1200" dirty="0" err="1"/>
              <a:t>του</a:t>
            </a:r>
            <a:r>
              <a:rPr lang="en-US" sz="1200" dirty="0"/>
              <a:t> Loop, </a:t>
            </a:r>
            <a:r>
              <a:rPr lang="en-US" sz="1200" dirty="0" err="1"/>
              <a:t>δοκιμάσ</a:t>
            </a:r>
            <a:r>
              <a:rPr lang="en-US" sz="1200" dirty="0"/>
              <a:t>αμε συστηματικά διαφορετικές τιμές (π.χ. 3, 5, 7, ... 21) </a:t>
            </a:r>
            <a:r>
              <a:rPr lang="en-US" sz="1200" dirty="0" err="1"/>
              <a:t>γι</a:t>
            </a:r>
            <a:r>
              <a:rPr lang="en-US" sz="1200" dirty="0"/>
              <a:t>α να δούμε: Πόσους γείτονες πρέπει να ρωτήσουμε για να πάρουμε τη σωστή απόφαση χωρίς να επηρεαστούμε από θόρυβο</a:t>
            </a:r>
          </a:p>
        </p:txBody>
      </p:sp>
      <p:sp>
        <p:nvSpPr>
          <p:cNvPr id="6" name="TextBox 5"/>
          <p:cNvSpPr txBox="1"/>
          <p:nvPr/>
        </p:nvSpPr>
        <p:spPr>
          <a:xfrm>
            <a:off x="6095999" y="1840607"/>
            <a:ext cx="5645432" cy="2031325"/>
          </a:xfrm>
          <a:prstGeom prst="rect">
            <a:avLst/>
          </a:prstGeom>
          <a:noFill/>
        </p:spPr>
        <p:txBody>
          <a:bodyPr wrap="square" rtlCol="0">
            <a:spAutoFit/>
          </a:bodyPr>
          <a:lstStyle/>
          <a:p>
            <a:r>
              <a:rPr lang="el-GR" sz="1400" b="1" dirty="0"/>
              <a:t>Πάνω Κλάδος (Training Check): </a:t>
            </a:r>
            <a:r>
              <a:rPr lang="el-GR" sz="1400" dirty="0"/>
              <a:t>Εδώ ο αλγόριθμος ψάχνει γείτονες μέσα στο ίδιο το σετ εκπαίδευσης. (Σημείωση: Αν το k=1, η ακρίβεια εδώ θα ήταν 100% γιατί ο κοντινότερος γείτονας είναι ο εαυτός του. Αυξάνοντας το k, βλέπουμε πόσο πέφτει η ακρίβεια).</a:t>
            </a:r>
          </a:p>
          <a:p>
            <a:r>
              <a:rPr lang="el-GR" sz="1400" b="1" dirty="0"/>
              <a:t>Κάτω Κλάδος (Test Check): </a:t>
            </a:r>
            <a:r>
              <a:rPr lang="el-GR" sz="1400" dirty="0"/>
              <a:t>Εδώ ο αλγόριθμος ψάχνει γείτονες για τα άγνωστα δεδομένα. Το αποτέλεσμα στο Line Plot έδειξε ότι όσο μεγάλωνε το k, η απόδοση δεν βελτιωνόταν ουσιαστικά, επιβεβαιώνοντας ότι το πρόβλημα ("Curse of Dimensionality") δεν λύνεται απλά αυξάνοντας τους γείτονες.</a:t>
            </a:r>
          </a:p>
        </p:txBody>
      </p:sp>
      <p:sp>
        <p:nvSpPr>
          <p:cNvPr id="10" name="TextBox 9"/>
          <p:cNvSpPr txBox="1"/>
          <p:nvPr/>
        </p:nvSpPr>
        <p:spPr>
          <a:xfrm>
            <a:off x="114300" y="5049689"/>
            <a:ext cx="7657866" cy="253916"/>
          </a:xfrm>
          <a:prstGeom prst="rect">
            <a:avLst/>
          </a:prstGeom>
          <a:noFill/>
        </p:spPr>
        <p:txBody>
          <a:bodyPr wrap="none" rtlCol="0">
            <a:spAutoFit/>
          </a:bodyPr>
          <a:lstStyle/>
          <a:p>
            <a:r>
              <a:rPr lang="el-GR" sz="1050" dirty="0"/>
              <a:t>Σε αντίθεση με τα προηγούμενα γραφήματα, εδώ βλέπουμε την Μπλε γραμμή (</a:t>
            </a:r>
            <a:r>
              <a:rPr lang="en-US" sz="1050" dirty="0"/>
              <a:t>Training</a:t>
            </a:r>
            <a:r>
              <a:rPr lang="el-GR" sz="1050" dirty="0"/>
              <a:t>) να </a:t>
            </a:r>
            <a:r>
              <a:rPr lang="el-GR" sz="1050" b="1" dirty="0"/>
              <a:t>πέφτει</a:t>
            </a:r>
            <a:r>
              <a:rPr lang="el-GR" sz="1050" dirty="0"/>
              <a:t> καθώς ανεβαίνει το </a:t>
            </a:r>
            <a:r>
              <a:rPr lang="en-US" sz="1050" dirty="0"/>
              <a:t>k</a:t>
            </a:r>
            <a:r>
              <a:rPr lang="el-GR" sz="1050" dirty="0"/>
              <a:t> (από 3 σε 21).</a:t>
            </a:r>
            <a:endParaRPr lang="en-US" sz="1050" dirty="0"/>
          </a:p>
        </p:txBody>
      </p:sp>
      <p:sp>
        <p:nvSpPr>
          <p:cNvPr id="11" name="TextBox 10"/>
          <p:cNvSpPr txBox="1"/>
          <p:nvPr/>
        </p:nvSpPr>
        <p:spPr>
          <a:xfrm>
            <a:off x="114300" y="5396389"/>
            <a:ext cx="8572501" cy="1200329"/>
          </a:xfrm>
          <a:prstGeom prst="rect">
            <a:avLst/>
          </a:prstGeom>
          <a:noFill/>
        </p:spPr>
        <p:txBody>
          <a:bodyPr wrap="square" rtlCol="0">
            <a:spAutoFit/>
          </a:bodyPr>
          <a:lstStyle/>
          <a:p>
            <a:r>
              <a:rPr lang="el-GR" sz="1200" dirty="0"/>
              <a:t>Όταν το k είναι μικρό (π.χ. 3), το μοντέλο κοιτάει μόνο τους πολύ κοντινούς γείτονες. Στο Training set, αυτό σημαίνει ότι πετυχαίνει εύκολα τον εαυτό του ή τους διπλανούς του (υψηλό σκορ ~75% στο ξεκίνημα).</a:t>
            </a:r>
          </a:p>
          <a:p>
            <a:r>
              <a:rPr lang="el-GR" sz="1200" dirty="0"/>
              <a:t>Όσο μεγαλώνει το k (φτάνοντας στο 21), το μοντέλο αναγκάζεται να πάρει "ψήφο" από 21 γείτονες. Αυτό "θολώνει" την απόφαση, μειώνοντας την ακρίβεια στο Training, αλλά (θεωρητικά) κάνοντας το μοντέλο πιο σταθερό.</a:t>
            </a:r>
          </a:p>
          <a:p>
            <a:r>
              <a:rPr lang="el-GR" sz="1200" b="1" dirty="0"/>
              <a:t>Το Πρόβλημα: </a:t>
            </a:r>
            <a:r>
              <a:rPr lang="el-GR" sz="1200" dirty="0"/>
              <a:t>Η Πράσινη γραμμή (Test) είναι απογοητευτικά επίπεδη και χαμηλή. Ανεβαίνει ελάχιστα (από 50.3% σε 51.9%). Αυτό σημαίνει ότι όσους γείτονες και να ρωτήσουμε, η απάντηση είναι μάλλον τυχαία.</a:t>
            </a:r>
          </a:p>
        </p:txBody>
      </p:sp>
      <p:sp>
        <p:nvSpPr>
          <p:cNvPr id="12" name="TextBox 11"/>
          <p:cNvSpPr txBox="1"/>
          <p:nvPr/>
        </p:nvSpPr>
        <p:spPr>
          <a:xfrm>
            <a:off x="8496300" y="3849360"/>
            <a:ext cx="3437817" cy="1546577"/>
          </a:xfrm>
          <a:prstGeom prst="rect">
            <a:avLst/>
          </a:prstGeom>
          <a:solidFill>
            <a:schemeClr val="accent1">
              <a:lumMod val="60000"/>
              <a:lumOff val="40000"/>
              <a:alpha val="31000"/>
            </a:schemeClr>
          </a:solidFill>
        </p:spPr>
        <p:txBody>
          <a:bodyPr wrap="square" rtlCol="0">
            <a:spAutoFit/>
          </a:bodyPr>
          <a:lstStyle/>
          <a:p>
            <a:pPr lvl="0"/>
            <a:r>
              <a:rPr lang="el-GR" sz="1050" dirty="0"/>
              <a:t>Έχουμε μετατρέψει τα δεδομένα (π.χ. Προορισμός, Αεροπορική) σε πολλές στήλες με 0 και 1 (</a:t>
            </a:r>
            <a:r>
              <a:rPr lang="en-US" sz="1050" dirty="0"/>
              <a:t>One</a:t>
            </a:r>
            <a:r>
              <a:rPr lang="el-GR" sz="1050" dirty="0"/>
              <a:t>-</a:t>
            </a:r>
            <a:r>
              <a:rPr lang="en-US" sz="1050" dirty="0"/>
              <a:t>Hot Encoding</a:t>
            </a:r>
            <a:r>
              <a:rPr lang="el-GR" sz="1050" dirty="0"/>
              <a:t>).</a:t>
            </a:r>
            <a:endParaRPr lang="en-US" sz="1050" dirty="0"/>
          </a:p>
          <a:p>
            <a:pPr lvl="0"/>
            <a:r>
              <a:rPr lang="el-GR" sz="1050" dirty="0"/>
              <a:t>Ο </a:t>
            </a:r>
            <a:r>
              <a:rPr lang="en-US" sz="1050" dirty="0"/>
              <a:t>KNN</a:t>
            </a:r>
            <a:r>
              <a:rPr lang="el-GR" sz="1050" dirty="0"/>
              <a:t> προσπαθεί να μετρήσει Ευκλείδια απόσταση σε έναν χώρο με δεκάδες διαστάσεις.</a:t>
            </a:r>
            <a:endParaRPr lang="en-US" sz="1050" dirty="0"/>
          </a:p>
          <a:p>
            <a:pPr lvl="0"/>
            <a:r>
              <a:rPr lang="el-GR" sz="1050" dirty="0"/>
              <a:t>Σε τόσες πολλές διαστάσεις, όλα τα σημεία αρχίζουν να φαίνονται ότι απέχουν "το ίδιο" μεταξύ τους. Ο αλγόριθμος χάνει την αίσθηση του ποιος είναι πραγματικά "κοντά".</a:t>
            </a:r>
            <a:endParaRPr lang="en-US" sz="1050" dirty="0"/>
          </a:p>
        </p:txBody>
      </p:sp>
    </p:spTree>
    <p:extLst>
      <p:ext uri="{BB962C8B-B14F-4D97-AF65-F5344CB8AC3E}">
        <p14:creationId xmlns:p14="http://schemas.microsoft.com/office/powerpoint/2010/main" val="268753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1" y="18931"/>
            <a:ext cx="12191999"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4300" y="53340"/>
            <a:ext cx="1287275"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Αλγόριθμοι</a:t>
            </a:r>
            <a:endParaRPr lang="en-US" b="1" dirty="0">
              <a:effectLst>
                <a:outerShdw blurRad="38100" dist="38100" dir="2700000" algn="tl">
                  <a:srgbClr val="000000">
                    <a:alpha val="43137"/>
                  </a:srgbClr>
                </a:outerShdw>
              </a:effectLst>
            </a:endParaRPr>
          </a:p>
        </p:txBody>
      </p:sp>
      <p:sp>
        <p:nvSpPr>
          <p:cNvPr id="7" name="TextBox 6"/>
          <p:cNvSpPr txBox="1"/>
          <p:nvPr/>
        </p:nvSpPr>
        <p:spPr>
          <a:xfrm>
            <a:off x="0" y="2486938"/>
            <a:ext cx="1382943" cy="369332"/>
          </a:xfrm>
          <a:prstGeom prst="rect">
            <a:avLst/>
          </a:prstGeom>
          <a:noFill/>
        </p:spPr>
        <p:txBody>
          <a:bodyPr wrap="none" rtlCol="0">
            <a:spAutoFit/>
          </a:bodyPr>
          <a:lstStyle/>
          <a:p>
            <a:r>
              <a:rPr lang="el-GR" b="1" dirty="0">
                <a:effectLst>
                  <a:outerShdw blurRad="38100" dist="38100" dir="2700000" algn="tl">
                    <a:srgbClr val="000000">
                      <a:alpha val="43137"/>
                    </a:srgbClr>
                  </a:outerShdw>
                </a:effectLst>
              </a:rPr>
              <a:t>Αποτέλεσμα</a:t>
            </a:r>
            <a:endParaRPr lang="en-US" b="1" dirty="0">
              <a:effectLst>
                <a:outerShdw blurRad="38100" dist="38100" dir="2700000" algn="tl">
                  <a:srgbClr val="000000">
                    <a:alpha val="43137"/>
                  </a:srgbClr>
                </a:outerShdw>
              </a:effectLst>
            </a:endParaRPr>
          </a:p>
        </p:txBody>
      </p:sp>
      <p:pic>
        <p:nvPicPr>
          <p:cNvPr id="10242" name="Picture 2" descr="Line Plot KN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 y="2938463"/>
            <a:ext cx="5943600"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092200" y="2758867"/>
            <a:ext cx="3457293" cy="276999"/>
          </a:xfrm>
          <a:prstGeom prst="rect">
            <a:avLst/>
          </a:prstGeom>
          <a:noFill/>
        </p:spPr>
        <p:txBody>
          <a:bodyPr wrap="none" rtlCol="0">
            <a:spAutoFit/>
          </a:bodyPr>
          <a:lstStyle/>
          <a:p>
            <a:r>
              <a:rPr lang="en-US" sz="1200" dirty="0"/>
              <a:t>Accuracy</a:t>
            </a:r>
            <a:r>
              <a:rPr lang="el-GR" sz="1200" dirty="0"/>
              <a:t>:</a:t>
            </a:r>
            <a:r>
              <a:rPr lang="en-US" sz="1200" dirty="0"/>
              <a:t> 0.599  accuracy</a:t>
            </a:r>
            <a:r>
              <a:rPr lang="el-GR" sz="1200" dirty="0"/>
              <a:t>_</a:t>
            </a:r>
            <a:r>
              <a:rPr lang="en-US" sz="1200" dirty="0"/>
              <a:t>test</a:t>
            </a:r>
            <a:r>
              <a:rPr lang="el-GR" sz="1200" dirty="0"/>
              <a:t>:</a:t>
            </a:r>
            <a:r>
              <a:rPr lang="en-US" sz="1200" dirty="0"/>
              <a:t> 0.519  </a:t>
            </a:r>
            <a:r>
              <a:rPr lang="en-US" sz="1200" dirty="0" err="1"/>
              <a:t>k_value</a:t>
            </a:r>
            <a:r>
              <a:rPr lang="el-GR" sz="1200" dirty="0"/>
              <a:t>:</a:t>
            </a:r>
            <a:r>
              <a:rPr lang="en-US" sz="1200" dirty="0"/>
              <a:t> 21    </a:t>
            </a:r>
          </a:p>
        </p:txBody>
      </p:sp>
      <p:pic>
        <p:nvPicPr>
          <p:cNvPr id="8" name="Picture 7"/>
          <p:cNvPicPr/>
          <p:nvPr/>
        </p:nvPicPr>
        <p:blipFill>
          <a:blip r:embed="rId5"/>
          <a:stretch>
            <a:fillRect/>
          </a:stretch>
        </p:blipFill>
        <p:spPr>
          <a:xfrm>
            <a:off x="76200" y="481051"/>
            <a:ext cx="5943600" cy="1906270"/>
          </a:xfrm>
          <a:prstGeom prst="rect">
            <a:avLst/>
          </a:prstGeom>
        </p:spPr>
      </p:pic>
      <p:sp>
        <p:nvSpPr>
          <p:cNvPr id="5" name="Rectangle 4"/>
          <p:cNvSpPr/>
          <p:nvPr/>
        </p:nvSpPr>
        <p:spPr>
          <a:xfrm>
            <a:off x="6019800" y="507324"/>
            <a:ext cx="6096000" cy="1015663"/>
          </a:xfrm>
          <a:prstGeom prst="rect">
            <a:avLst/>
          </a:prstGeom>
        </p:spPr>
        <p:txBody>
          <a:bodyPr>
            <a:spAutoFit/>
          </a:bodyPr>
          <a:lstStyle/>
          <a:p>
            <a:r>
              <a:rPr lang="en-US" sz="1200" dirty="0" err="1"/>
              <a:t>Γι</a:t>
            </a:r>
            <a:r>
              <a:rPr lang="en-US" sz="1200" dirty="0"/>
              <a:t>α τον KNN, χρησιμοποιήσαμε τον κόμβο </a:t>
            </a:r>
            <a:r>
              <a:rPr lang="en-US" sz="1200" b="1" dirty="0"/>
              <a:t>Interval Loop Start</a:t>
            </a:r>
            <a:r>
              <a:rPr lang="en-US" sz="1200" dirty="0"/>
              <a:t>. Η πα</a:t>
            </a:r>
            <a:r>
              <a:rPr lang="en-US" sz="1200" dirty="0" err="1"/>
              <a:t>ράμετρος</a:t>
            </a:r>
            <a:r>
              <a:rPr lang="en-US" sz="1200" dirty="0"/>
              <a:t> π</a:t>
            </a:r>
            <a:r>
              <a:rPr lang="en-US" sz="1200" dirty="0" err="1"/>
              <a:t>ου</a:t>
            </a:r>
            <a:r>
              <a:rPr lang="en-US" sz="1200" dirty="0"/>
              <a:t> </a:t>
            </a:r>
            <a:r>
              <a:rPr lang="en-US" sz="1200" dirty="0" err="1"/>
              <a:t>μετ</a:t>
            </a:r>
            <a:r>
              <a:rPr lang="en-US" sz="1200" dirty="0"/>
              <a:t>αβάλλουμε εδώ είναι το k (Number of Neighbors). Ο α</a:t>
            </a:r>
            <a:r>
              <a:rPr lang="en-US" sz="1200" dirty="0" err="1"/>
              <a:t>λγόριθμος</a:t>
            </a:r>
            <a:r>
              <a:rPr lang="en-US" sz="1200" dirty="0"/>
              <a:t> τα</a:t>
            </a:r>
            <a:r>
              <a:rPr lang="en-US" sz="1200" dirty="0" err="1"/>
              <a:t>ξινόμησης</a:t>
            </a:r>
            <a:r>
              <a:rPr lang="en-US" sz="1200" dirty="0"/>
              <a:t> βα</a:t>
            </a:r>
            <a:r>
              <a:rPr lang="en-US" sz="1200" dirty="0" err="1"/>
              <a:t>σίζετ</a:t>
            </a:r>
            <a:r>
              <a:rPr lang="en-US" sz="1200" dirty="0"/>
              <a:t>αι στην "πλειοψηφία των γειτόνων". </a:t>
            </a:r>
            <a:r>
              <a:rPr lang="en-US" sz="1200" dirty="0" err="1"/>
              <a:t>Μέσω</a:t>
            </a:r>
            <a:r>
              <a:rPr lang="en-US" sz="1200" dirty="0"/>
              <a:t> </a:t>
            </a:r>
            <a:r>
              <a:rPr lang="en-US" sz="1200" dirty="0" err="1"/>
              <a:t>του</a:t>
            </a:r>
            <a:r>
              <a:rPr lang="en-US" sz="1200" dirty="0"/>
              <a:t> Loop, </a:t>
            </a:r>
            <a:r>
              <a:rPr lang="en-US" sz="1200" dirty="0" err="1"/>
              <a:t>δοκιμάσ</a:t>
            </a:r>
            <a:r>
              <a:rPr lang="en-US" sz="1200" dirty="0"/>
              <a:t>αμε συστηματικά διαφορετικές τιμές (π.χ. 3, 5, 7, ... 21) </a:t>
            </a:r>
            <a:r>
              <a:rPr lang="en-US" sz="1200" dirty="0" err="1"/>
              <a:t>γι</a:t>
            </a:r>
            <a:r>
              <a:rPr lang="en-US" sz="1200" dirty="0"/>
              <a:t>α να δούμε: Πόσους γείτονες πρέπει να ρωτήσουμε για να πάρουμε τη σωστή απόφαση χωρίς να επηρεαστούμε από θόρυβο</a:t>
            </a:r>
          </a:p>
        </p:txBody>
      </p:sp>
      <p:sp>
        <p:nvSpPr>
          <p:cNvPr id="6" name="TextBox 5"/>
          <p:cNvSpPr txBox="1"/>
          <p:nvPr/>
        </p:nvSpPr>
        <p:spPr>
          <a:xfrm>
            <a:off x="6095999" y="1840607"/>
            <a:ext cx="5645432" cy="2031325"/>
          </a:xfrm>
          <a:prstGeom prst="rect">
            <a:avLst/>
          </a:prstGeom>
          <a:noFill/>
        </p:spPr>
        <p:txBody>
          <a:bodyPr wrap="square" rtlCol="0">
            <a:spAutoFit/>
          </a:bodyPr>
          <a:lstStyle/>
          <a:p>
            <a:r>
              <a:rPr lang="el-GR" sz="1400" b="1" dirty="0"/>
              <a:t>Πάνω Κλάδος (Training Check): </a:t>
            </a:r>
            <a:r>
              <a:rPr lang="el-GR" sz="1400" dirty="0"/>
              <a:t>Εδώ ο αλγόριθμος ψάχνει γείτονες μέσα στο ίδιο το σετ εκπαίδευσης. (Σημείωση: Αν το k=1, η ακρίβεια εδώ θα ήταν 100% γιατί ο κοντινότερος γείτονας είναι ο εαυτός του. Αυξάνοντας το k, βλέπουμε πόσο πέφτει η ακρίβεια).</a:t>
            </a:r>
          </a:p>
          <a:p>
            <a:r>
              <a:rPr lang="el-GR" sz="1400" b="1" dirty="0"/>
              <a:t>Κάτω Κλάδος (Test Check): </a:t>
            </a:r>
            <a:r>
              <a:rPr lang="el-GR" sz="1400" dirty="0"/>
              <a:t>Εδώ ο αλγόριθμος ψάχνει γείτονες για τα άγνωστα δεδομένα. Το αποτέλεσμα στο Line Plot έδειξε ότι όσο μεγάλωνε το k, η απόδοση δεν βελτιωνόταν ουσιαστικά, επιβεβαιώνοντας ότι το πρόβλημα ("Curse of Dimensionality") δεν λύνεται απλά αυξάνοντας τους γείτονες.</a:t>
            </a:r>
          </a:p>
        </p:txBody>
      </p:sp>
      <p:sp>
        <p:nvSpPr>
          <p:cNvPr id="10" name="TextBox 9"/>
          <p:cNvSpPr txBox="1"/>
          <p:nvPr/>
        </p:nvSpPr>
        <p:spPr>
          <a:xfrm>
            <a:off x="114300" y="5049689"/>
            <a:ext cx="7657866" cy="253916"/>
          </a:xfrm>
          <a:prstGeom prst="rect">
            <a:avLst/>
          </a:prstGeom>
          <a:noFill/>
        </p:spPr>
        <p:txBody>
          <a:bodyPr wrap="none" rtlCol="0">
            <a:spAutoFit/>
          </a:bodyPr>
          <a:lstStyle/>
          <a:p>
            <a:r>
              <a:rPr lang="el-GR" sz="1050" dirty="0"/>
              <a:t>Σε αντίθεση με τα προηγούμενα γραφήματα, εδώ βλέπουμε την Μπλε γραμμή (</a:t>
            </a:r>
            <a:r>
              <a:rPr lang="en-US" sz="1050" dirty="0"/>
              <a:t>Training</a:t>
            </a:r>
            <a:r>
              <a:rPr lang="el-GR" sz="1050" dirty="0"/>
              <a:t>) να </a:t>
            </a:r>
            <a:r>
              <a:rPr lang="el-GR" sz="1050" b="1" dirty="0"/>
              <a:t>πέφτει</a:t>
            </a:r>
            <a:r>
              <a:rPr lang="el-GR" sz="1050" dirty="0"/>
              <a:t> καθώς ανεβαίνει το </a:t>
            </a:r>
            <a:r>
              <a:rPr lang="en-US" sz="1050" dirty="0"/>
              <a:t>k</a:t>
            </a:r>
            <a:r>
              <a:rPr lang="el-GR" sz="1050" dirty="0"/>
              <a:t> (από 3 σε 21).</a:t>
            </a:r>
            <a:endParaRPr lang="en-US" sz="1050" dirty="0"/>
          </a:p>
        </p:txBody>
      </p:sp>
      <p:sp>
        <p:nvSpPr>
          <p:cNvPr id="11" name="TextBox 10"/>
          <p:cNvSpPr txBox="1"/>
          <p:nvPr/>
        </p:nvSpPr>
        <p:spPr>
          <a:xfrm>
            <a:off x="114300" y="5396389"/>
            <a:ext cx="8572501" cy="1200329"/>
          </a:xfrm>
          <a:prstGeom prst="rect">
            <a:avLst/>
          </a:prstGeom>
          <a:noFill/>
        </p:spPr>
        <p:txBody>
          <a:bodyPr wrap="square" rtlCol="0">
            <a:spAutoFit/>
          </a:bodyPr>
          <a:lstStyle/>
          <a:p>
            <a:r>
              <a:rPr lang="el-GR" sz="1200" dirty="0"/>
              <a:t>Όταν το k είναι μικρό (π.χ. 3), το μοντέλο κοιτάει μόνο τους πολύ κοντινούς γείτονες. Στο Training set, αυτό σημαίνει ότι πετυχαίνει εύκολα τον εαυτό του ή τους διπλανούς του (υψηλό σκορ ~75% στο ξεκίνημα).</a:t>
            </a:r>
          </a:p>
          <a:p>
            <a:r>
              <a:rPr lang="el-GR" sz="1200" dirty="0"/>
              <a:t>Όσο μεγαλώνει το k (φτάνοντας στο 21), το μοντέλο αναγκάζεται να πάρει "ψήφο" από 21 γείτονες. Αυτό "θολώνει" την απόφαση, μειώνοντας την ακρίβεια στο Training, αλλά (θεωρητικά) κάνοντας το μοντέλο πιο σταθερό.</a:t>
            </a:r>
          </a:p>
          <a:p>
            <a:r>
              <a:rPr lang="el-GR" sz="1200" b="1" dirty="0"/>
              <a:t>Το Πρόβλημα: </a:t>
            </a:r>
            <a:r>
              <a:rPr lang="el-GR" sz="1200" dirty="0"/>
              <a:t>Η Πράσινη γραμμή (Test) είναι απογοητευτικά επίπεδη και χαμηλή. Ανεβαίνει ελάχιστα (από 50.3% σε 51.9%). Αυτό σημαίνει ότι όσους γείτονες και να ρωτήσουμε, η απάντηση είναι μάλλον τυχαία.</a:t>
            </a:r>
          </a:p>
        </p:txBody>
      </p:sp>
      <p:sp>
        <p:nvSpPr>
          <p:cNvPr id="12" name="TextBox 11"/>
          <p:cNvSpPr txBox="1"/>
          <p:nvPr/>
        </p:nvSpPr>
        <p:spPr>
          <a:xfrm>
            <a:off x="8496300" y="3849360"/>
            <a:ext cx="3437817" cy="1546577"/>
          </a:xfrm>
          <a:prstGeom prst="rect">
            <a:avLst/>
          </a:prstGeom>
          <a:solidFill>
            <a:schemeClr val="accent1">
              <a:lumMod val="60000"/>
              <a:lumOff val="40000"/>
              <a:alpha val="31000"/>
            </a:schemeClr>
          </a:solidFill>
        </p:spPr>
        <p:txBody>
          <a:bodyPr wrap="square" rtlCol="0">
            <a:spAutoFit/>
          </a:bodyPr>
          <a:lstStyle/>
          <a:p>
            <a:pPr lvl="0"/>
            <a:r>
              <a:rPr lang="el-GR" sz="1050" dirty="0"/>
              <a:t>Έχουμε μετατρέψει τα δεδομένα (π.χ. Προορισμός, Αεροπορική) σε πολλές στήλες με 0 και 1 (</a:t>
            </a:r>
            <a:r>
              <a:rPr lang="en-US" sz="1050" dirty="0"/>
              <a:t>One</a:t>
            </a:r>
            <a:r>
              <a:rPr lang="el-GR" sz="1050" dirty="0"/>
              <a:t>-</a:t>
            </a:r>
            <a:r>
              <a:rPr lang="en-US" sz="1050" dirty="0"/>
              <a:t>Hot Encoding</a:t>
            </a:r>
            <a:r>
              <a:rPr lang="el-GR" sz="1050" dirty="0"/>
              <a:t>).</a:t>
            </a:r>
            <a:endParaRPr lang="en-US" sz="1050" dirty="0"/>
          </a:p>
          <a:p>
            <a:pPr lvl="0"/>
            <a:r>
              <a:rPr lang="el-GR" sz="1050" dirty="0"/>
              <a:t>Ο </a:t>
            </a:r>
            <a:r>
              <a:rPr lang="en-US" sz="1050" dirty="0"/>
              <a:t>KNN</a:t>
            </a:r>
            <a:r>
              <a:rPr lang="el-GR" sz="1050" dirty="0"/>
              <a:t> προσπαθεί να μετρήσει Ευκλείδια απόσταση σε έναν χώρο με δεκάδες διαστάσεις.</a:t>
            </a:r>
            <a:endParaRPr lang="en-US" sz="1050" dirty="0"/>
          </a:p>
          <a:p>
            <a:pPr lvl="0"/>
            <a:r>
              <a:rPr lang="el-GR" sz="1050" dirty="0"/>
              <a:t>Σε τόσες πολλές διαστάσεις, όλα τα σημεία αρχίζουν να φαίνονται ότι απέχουν "το ίδιο" μεταξύ τους. Ο αλγόριθμος χάνει την αίσθηση του ποιος είναι πραγματικά "κοντά".</a:t>
            </a:r>
            <a:endParaRPr lang="en-US" sz="1050" dirty="0"/>
          </a:p>
        </p:txBody>
      </p:sp>
    </p:spTree>
    <p:extLst>
      <p:ext uri="{BB962C8B-B14F-4D97-AF65-F5344CB8AC3E}">
        <p14:creationId xmlns:p14="http://schemas.microsoft.com/office/powerpoint/2010/main" val="2843191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age 5 | Light cream paper texture Images - Free Download on Freepik"/>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0" y="-1"/>
            <a:ext cx="12191999" cy="68580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4290893027"/>
              </p:ext>
            </p:extLst>
          </p:nvPr>
        </p:nvGraphicFramePr>
        <p:xfrm>
          <a:off x="2539998" y="259937"/>
          <a:ext cx="7842251" cy="1660652"/>
        </p:xfrm>
        <a:graphic>
          <a:graphicData uri="http://schemas.openxmlformats.org/drawingml/2006/table">
            <a:tbl>
              <a:tblPr firstRow="1" firstCol="1" bandRow="1">
                <a:tableStyleId>{AF606853-7671-496A-8E4F-DF71F8EC918B}</a:tableStyleId>
              </a:tblPr>
              <a:tblGrid>
                <a:gridCol w="570921">
                  <a:extLst>
                    <a:ext uri="{9D8B030D-6E8A-4147-A177-3AD203B41FA5}">
                      <a16:colId xmlns:a16="http://schemas.microsoft.com/office/drawing/2014/main" val="4035144612"/>
                    </a:ext>
                  </a:extLst>
                </a:gridCol>
                <a:gridCol w="1387658">
                  <a:extLst>
                    <a:ext uri="{9D8B030D-6E8A-4147-A177-3AD203B41FA5}">
                      <a16:colId xmlns:a16="http://schemas.microsoft.com/office/drawing/2014/main" val="3276724694"/>
                    </a:ext>
                  </a:extLst>
                </a:gridCol>
                <a:gridCol w="1831709">
                  <a:extLst>
                    <a:ext uri="{9D8B030D-6E8A-4147-A177-3AD203B41FA5}">
                      <a16:colId xmlns:a16="http://schemas.microsoft.com/office/drawing/2014/main" val="1276594609"/>
                    </a:ext>
                  </a:extLst>
                </a:gridCol>
                <a:gridCol w="4051963">
                  <a:extLst>
                    <a:ext uri="{9D8B030D-6E8A-4147-A177-3AD203B41FA5}">
                      <a16:colId xmlns:a16="http://schemas.microsoft.com/office/drawing/2014/main" val="1030739220"/>
                    </a:ext>
                  </a:extLst>
                </a:gridCol>
              </a:tblGrid>
              <a:tr h="0">
                <a:tc>
                  <a:txBody>
                    <a:bodyPr/>
                    <a:lstStyle/>
                    <a:p>
                      <a:pPr algn="ctr">
                        <a:lnSpc>
                          <a:spcPct val="107000"/>
                        </a:lnSpc>
                        <a:spcAft>
                          <a:spcPts val="2400"/>
                        </a:spcAft>
                      </a:pPr>
                      <a:r>
                        <a:rPr lang="en-US" sz="1400" dirty="0" err="1">
                          <a:effectLst/>
                        </a:rPr>
                        <a:t>Θέση</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2400"/>
                        </a:spcAft>
                      </a:pPr>
                      <a:r>
                        <a:rPr lang="en-US" sz="1400" dirty="0" err="1">
                          <a:effectLst/>
                        </a:rPr>
                        <a:t>Μοντέλο</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2400"/>
                        </a:spcAft>
                      </a:pPr>
                      <a:r>
                        <a:rPr lang="en-US" sz="1400" dirty="0">
                          <a:effectLst/>
                        </a:rPr>
                        <a:t>Test Accuracy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2400"/>
                        </a:spcAft>
                      </a:pPr>
                      <a:r>
                        <a:rPr lang="en-US" sz="1400" dirty="0">
                          <a:effectLst/>
                        </a:rPr>
                        <a:t>Χαρα</a:t>
                      </a:r>
                      <a:r>
                        <a:rPr lang="en-US" sz="1400" dirty="0" err="1">
                          <a:effectLst/>
                        </a:rPr>
                        <a:t>κτηρισμός</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29766821"/>
                  </a:ext>
                </a:extLst>
              </a:tr>
              <a:tr h="0">
                <a:tc>
                  <a:txBody>
                    <a:bodyPr/>
                    <a:lstStyle/>
                    <a:p>
                      <a:pPr algn="ctr">
                        <a:lnSpc>
                          <a:spcPct val="107000"/>
                        </a:lnSpc>
                        <a:spcAft>
                          <a:spcPts val="2400"/>
                        </a:spcAft>
                      </a:pPr>
                      <a:r>
                        <a:rPr lang="en-US" sz="1400" dirty="0">
                          <a:effectLst/>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a:effectLst/>
                        </a:rPr>
                        <a:t>Random Forest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74.8%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l-GR" sz="1400">
                          <a:effectLst/>
                        </a:rPr>
                        <a:t>Η Βέλτιστη Λύση (</a:t>
                      </a:r>
                      <a:r>
                        <a:rPr lang="en-US" sz="1400">
                          <a:effectLst/>
                        </a:rPr>
                        <a:t>Robust</a:t>
                      </a:r>
                      <a:r>
                        <a:rPr lang="el-GR" sz="1400">
                          <a:effectLst/>
                        </a:rPr>
                        <a:t> &amp; </a:t>
                      </a:r>
                      <a:r>
                        <a:rPr lang="en-US" sz="1400">
                          <a:effectLst/>
                        </a:rPr>
                        <a:t>Accurate</a:t>
                      </a:r>
                      <a:r>
                        <a:rPr lang="el-GR"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09241291"/>
                  </a:ext>
                </a:extLst>
              </a:tr>
              <a:tr h="0">
                <a:tc>
                  <a:txBody>
                    <a:bodyPr/>
                    <a:lstStyle/>
                    <a:p>
                      <a:pPr algn="ctr">
                        <a:lnSpc>
                          <a:spcPct val="107000"/>
                        </a:lnSpc>
                        <a:spcAft>
                          <a:spcPts val="2400"/>
                        </a:spcAft>
                      </a:pPr>
                      <a:r>
                        <a:rPr lang="en-US" sz="1400" dirty="0">
                          <a:effectLst/>
                        </a:rPr>
                        <a:t>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a:effectLst/>
                        </a:rPr>
                        <a:t>Gradient Boosted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a:effectLst/>
                        </a:rPr>
                        <a:t>70.9%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l-GR" sz="1400">
                          <a:effectLst/>
                        </a:rPr>
                        <a:t>Πολύ ισχυρό, αλλά με </a:t>
                      </a:r>
                      <a:r>
                        <a:rPr lang="en-US" sz="1400">
                          <a:effectLst/>
                        </a:rPr>
                        <a:t>Overfitting</a:t>
                      </a:r>
                      <a:r>
                        <a:rPr lang="el-GR" sz="1400">
                          <a:effectLst/>
                        </a:rPr>
                        <a:t> (</a:t>
                      </a:r>
                      <a:r>
                        <a:rPr lang="en-US" sz="1400">
                          <a:effectLst/>
                        </a:rPr>
                        <a:t>Train</a:t>
                      </a:r>
                      <a:r>
                        <a:rPr lang="el-GR" sz="1400">
                          <a:effectLst/>
                        </a:rPr>
                        <a:t> 100%)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76059627"/>
                  </a:ext>
                </a:extLst>
              </a:tr>
              <a:tr h="0">
                <a:tc>
                  <a:txBody>
                    <a:bodyPr/>
                    <a:lstStyle/>
                    <a:p>
                      <a:pPr algn="ctr">
                        <a:lnSpc>
                          <a:spcPct val="107000"/>
                        </a:lnSpc>
                        <a:spcAft>
                          <a:spcPts val="2400"/>
                        </a:spcAft>
                      </a:pPr>
                      <a:r>
                        <a:rPr lang="en-US" sz="1400" dirty="0">
                          <a:effectLst/>
                        </a:rPr>
                        <a:t>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Decision Tree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a:effectLst/>
                        </a:rPr>
                        <a:t>66.0%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err="1">
                          <a:effectLst/>
                        </a:rPr>
                        <a:t>Τίμιο</a:t>
                      </a:r>
                      <a:r>
                        <a:rPr lang="en-US" sz="1400" dirty="0">
                          <a:effectLst/>
                        </a:rPr>
                        <a:t>, </a:t>
                      </a:r>
                      <a:r>
                        <a:rPr lang="en-US" sz="1400" dirty="0" err="1">
                          <a:effectLst/>
                        </a:rPr>
                        <a:t>ισορρο</a:t>
                      </a:r>
                      <a:r>
                        <a:rPr lang="en-US" sz="1400" dirty="0">
                          <a:effectLst/>
                        </a:rPr>
                        <a:t>πημένο, καλό Baseline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4221348"/>
                  </a:ext>
                </a:extLst>
              </a:tr>
              <a:tr h="0">
                <a:tc>
                  <a:txBody>
                    <a:bodyPr/>
                    <a:lstStyle/>
                    <a:p>
                      <a:pPr algn="ctr">
                        <a:lnSpc>
                          <a:spcPct val="107000"/>
                        </a:lnSpc>
                        <a:spcAft>
                          <a:spcPts val="2400"/>
                        </a:spcAft>
                      </a:pPr>
                      <a:r>
                        <a:rPr lang="en-US" sz="1400" dirty="0">
                          <a:effectLst/>
                        </a:rPr>
                        <a:t>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RProp MLP</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a:effectLst/>
                        </a:rPr>
                        <a:t>62.6%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l-GR" sz="1400" dirty="0">
                          <a:effectLst/>
                        </a:rPr>
                        <a:t>Μέτριο, δεν δικαιολογεί την πολυπλοκότητά του</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17297810"/>
                  </a:ext>
                </a:extLst>
              </a:tr>
              <a:tr h="0">
                <a:tc>
                  <a:txBody>
                    <a:bodyPr/>
                    <a:lstStyle/>
                    <a:p>
                      <a:pPr algn="ctr">
                        <a:lnSpc>
                          <a:spcPct val="107000"/>
                        </a:lnSpc>
                        <a:spcAft>
                          <a:spcPts val="2400"/>
                        </a:spcAft>
                      </a:pPr>
                      <a:r>
                        <a:rPr lang="en-US" sz="1400" dirty="0">
                          <a:effectLst/>
                        </a:rPr>
                        <a:t>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KNN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51.9%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a:effectLst/>
                        </a:rPr>
                        <a:t>Απ</a:t>
                      </a:r>
                      <a:r>
                        <a:rPr lang="en-US" sz="1400" dirty="0" err="1">
                          <a:effectLst/>
                        </a:rPr>
                        <a:t>έτυχε</a:t>
                      </a:r>
                      <a:r>
                        <a:rPr lang="en-US" sz="1400" dirty="0">
                          <a:effectLst/>
                        </a:rPr>
                        <a:t> </a:t>
                      </a:r>
                      <a:r>
                        <a:rPr lang="en-US" sz="1400" dirty="0" err="1">
                          <a:effectLst/>
                        </a:rPr>
                        <a:t>λόγω</a:t>
                      </a:r>
                      <a:r>
                        <a:rPr lang="en-US" sz="1400" dirty="0">
                          <a:effectLst/>
                        </a:rPr>
                        <a:t> </a:t>
                      </a:r>
                      <a:r>
                        <a:rPr lang="en-US" sz="1400" dirty="0" err="1">
                          <a:effectLst/>
                        </a:rPr>
                        <a:t>δι</a:t>
                      </a:r>
                      <a:r>
                        <a:rPr lang="en-US" sz="1400" dirty="0">
                          <a:effectLst/>
                        </a:rPr>
                        <a:t>αστατικότητας</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29132723"/>
                  </a:ext>
                </a:extLst>
              </a:tr>
              <a:tr h="0">
                <a:tc>
                  <a:txBody>
                    <a:bodyPr/>
                    <a:lstStyle/>
                    <a:p>
                      <a:pPr algn="ctr">
                        <a:lnSpc>
                          <a:spcPct val="107000"/>
                        </a:lnSpc>
                        <a:spcAft>
                          <a:spcPts val="2400"/>
                        </a:spcAft>
                      </a:pPr>
                      <a:r>
                        <a:rPr lang="en-US" sz="1400" dirty="0">
                          <a:effectLst/>
                        </a:rPr>
                        <a:t>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Naive Bayes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a:effectLst/>
                        </a:rPr>
                        <a:t>51.4%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2400"/>
                        </a:spcAft>
                      </a:pPr>
                      <a:r>
                        <a:rPr lang="en-US" sz="1400" dirty="0" err="1">
                          <a:effectLst/>
                        </a:rPr>
                        <a:t>Το</a:t>
                      </a:r>
                      <a:r>
                        <a:rPr lang="en-US" sz="1400" dirty="0">
                          <a:effectLst/>
                        </a:rPr>
                        <a:t> </a:t>
                      </a:r>
                      <a:r>
                        <a:rPr lang="en-US" sz="1400" dirty="0" err="1">
                          <a:effectLst/>
                        </a:rPr>
                        <a:t>χειρότερο</a:t>
                      </a:r>
                      <a:r>
                        <a:rPr lang="en-US" sz="1400" dirty="0">
                          <a:effectLst/>
                        </a:rPr>
                        <a:t>, π</a:t>
                      </a:r>
                      <a:r>
                        <a:rPr lang="en-US" sz="1400" dirty="0" err="1">
                          <a:effectLst/>
                        </a:rPr>
                        <a:t>ολύ</a:t>
                      </a:r>
                      <a:r>
                        <a:rPr lang="en-US" sz="1400" dirty="0">
                          <a:effectLst/>
                        </a:rPr>
                        <a:t> απ</a:t>
                      </a:r>
                      <a:r>
                        <a:rPr lang="en-US" sz="1400" dirty="0" err="1">
                          <a:effectLst/>
                        </a:rPr>
                        <a:t>λοϊκό</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6178598"/>
                  </a:ext>
                </a:extLst>
              </a:tr>
            </a:tbl>
          </a:graphicData>
        </a:graphic>
      </p:graphicFrame>
      <p:sp>
        <p:nvSpPr>
          <p:cNvPr id="9" name="TextBox 8"/>
          <p:cNvSpPr txBox="1"/>
          <p:nvPr/>
        </p:nvSpPr>
        <p:spPr>
          <a:xfrm>
            <a:off x="514350" y="2457450"/>
            <a:ext cx="11303000" cy="1600438"/>
          </a:xfrm>
          <a:prstGeom prst="rect">
            <a:avLst/>
          </a:prstGeom>
          <a:noFill/>
        </p:spPr>
        <p:txBody>
          <a:bodyPr wrap="square" rtlCol="0">
            <a:spAutoFit/>
          </a:bodyPr>
          <a:lstStyle/>
          <a:p>
            <a:r>
              <a:rPr lang="el-GR" sz="1400" dirty="0"/>
              <a:t>Το τελικό σύστημα βασίζεται στον αλγόριθμο </a:t>
            </a:r>
            <a:r>
              <a:rPr lang="en-US" sz="1400" b="1" dirty="0"/>
              <a:t>Random Forest</a:t>
            </a:r>
            <a:r>
              <a:rPr lang="el-GR" sz="1400" dirty="0"/>
              <a:t>, ο οποίος αποδείχθηκε ο πιο αποδοτικός και αξιόπιστος για το συγκεκριμένο πρόβλημα.</a:t>
            </a:r>
            <a:endParaRPr lang="en-US" sz="1400" dirty="0"/>
          </a:p>
          <a:p>
            <a:pPr lvl="0"/>
            <a:r>
              <a:rPr lang="el-GR" sz="1400" b="1" dirty="0"/>
              <a:t>Επίδοση:</a:t>
            </a:r>
            <a:r>
              <a:rPr lang="el-GR" sz="1400" dirty="0"/>
              <a:t> Πέτυχε την υψηλότερη ακρίβεια πρόβλεψης (</a:t>
            </a:r>
            <a:r>
              <a:rPr lang="en-US" sz="1400" dirty="0"/>
              <a:t>Test Accuracy</a:t>
            </a:r>
            <a:r>
              <a:rPr lang="el-GR" sz="1400" dirty="0"/>
              <a:t>) στο </a:t>
            </a:r>
            <a:r>
              <a:rPr lang="el-GR" sz="1400" b="1" dirty="0"/>
              <a:t>74.8%</a:t>
            </a:r>
            <a:r>
              <a:rPr lang="el-GR" sz="1400" dirty="0"/>
              <a:t>.</a:t>
            </a:r>
            <a:endParaRPr lang="en-US" sz="1400" dirty="0"/>
          </a:p>
          <a:p>
            <a:pPr lvl="0"/>
            <a:r>
              <a:rPr lang="el-GR" sz="1400" b="1" dirty="0"/>
              <a:t>Συμπεριφορά:</a:t>
            </a:r>
            <a:r>
              <a:rPr lang="el-GR" sz="1400" dirty="0"/>
              <a:t> Επέδειξε την καλύτερη ικανότητα γενίκευσης. Αν και η ακρίβεια εκπαίδευσης έφτασε το ~94.6% (δείχνοντας τάση </a:t>
            </a:r>
            <a:r>
              <a:rPr lang="en-US" sz="1400" dirty="0"/>
              <a:t>overfitting</a:t>
            </a:r>
            <a:r>
              <a:rPr lang="el-GR" sz="1400" dirty="0"/>
              <a:t>), κατάφερε να διατηρήσει υψηλό σκορ στα άγνωστα δεδομένα, αποδεικνύοντας ότι είναι ανθεκτικός στον θόρυβο.</a:t>
            </a:r>
            <a:endParaRPr lang="en-US" sz="1400" dirty="0"/>
          </a:p>
          <a:p>
            <a:r>
              <a:rPr lang="el-GR" sz="1400" b="1" dirty="0"/>
              <a:t>Η Σύγκριση με τους Υπόλοιπους Αλγορίθμους</a:t>
            </a:r>
            <a:endParaRPr lang="en-US" sz="1400" b="1" dirty="0"/>
          </a:p>
          <a:p>
            <a:r>
              <a:rPr lang="el-GR" sz="1400" dirty="0"/>
              <a:t>Η συγκριτική ανάλυση ανέδειξε ότι τα μοντέλα που βασίζονται σε δέντρα (</a:t>
            </a:r>
            <a:r>
              <a:rPr lang="en-US" sz="1400" dirty="0"/>
              <a:t>Tree</a:t>
            </a:r>
            <a:r>
              <a:rPr lang="el-GR" sz="1400" dirty="0"/>
              <a:t>-</a:t>
            </a:r>
            <a:r>
              <a:rPr lang="en-US" sz="1400" dirty="0"/>
              <a:t>based</a:t>
            </a:r>
            <a:r>
              <a:rPr lang="el-GR" sz="1400" dirty="0"/>
              <a:t>) υπερτερούν ξεκάθαρα σε αυτό το είδος δεδομένων (</a:t>
            </a:r>
            <a:r>
              <a:rPr lang="en-US" sz="1400" dirty="0"/>
              <a:t>tabular data</a:t>
            </a:r>
            <a:r>
              <a:rPr lang="el-GR" sz="1400" dirty="0"/>
              <a:t>) σε σχέση με τις άλλες προσεγγίσεις.</a:t>
            </a:r>
            <a:endParaRPr lang="en-US" sz="1400" dirty="0"/>
          </a:p>
        </p:txBody>
      </p:sp>
      <p:sp>
        <p:nvSpPr>
          <p:cNvPr id="13" name="TextBox 12"/>
          <p:cNvSpPr txBox="1"/>
          <p:nvPr/>
        </p:nvSpPr>
        <p:spPr>
          <a:xfrm>
            <a:off x="1190623" y="4678428"/>
            <a:ext cx="10541000" cy="954107"/>
          </a:xfrm>
          <a:prstGeom prst="rect">
            <a:avLst/>
          </a:prstGeom>
          <a:noFill/>
        </p:spPr>
        <p:txBody>
          <a:bodyPr wrap="square" rtlCol="0">
            <a:spAutoFit/>
          </a:bodyPr>
          <a:lstStyle/>
          <a:p>
            <a:r>
              <a:rPr lang="el-GR" sz="1400" b="1" dirty="0"/>
              <a:t>Το αποτέλεσμα δεν είναι απλά ένα ποσοστό. </a:t>
            </a:r>
            <a:r>
              <a:rPr lang="el-GR" sz="1400" dirty="0"/>
              <a:t>Το </a:t>
            </a:r>
            <a:r>
              <a:rPr lang="el-GR" sz="1400" b="1" dirty="0"/>
              <a:t>σύστημα</a:t>
            </a:r>
            <a:r>
              <a:rPr lang="el-GR" sz="1400" dirty="0"/>
              <a:t> που αναπτύχθηκε </a:t>
            </a:r>
            <a:r>
              <a:rPr lang="el-GR" sz="1400" b="1" dirty="0"/>
              <a:t>προσφέρει:</a:t>
            </a:r>
            <a:endParaRPr lang="en-US" sz="1400" b="1" dirty="0"/>
          </a:p>
          <a:p>
            <a:pPr lvl="0"/>
            <a:r>
              <a:rPr lang="el-GR" sz="1400" b="1" dirty="0"/>
              <a:t>Δυνατότητα πρόβλεψης της κατηγορίας επιβατικής κίνησης </a:t>
            </a:r>
            <a:r>
              <a:rPr lang="el-GR" sz="1400" dirty="0"/>
              <a:t>(π.χ. Κλάση Α: 30.000+ επιβάτες </a:t>
            </a:r>
            <a:r>
              <a:rPr lang="en-US" sz="1400" dirty="0"/>
              <a:t>vs</a:t>
            </a:r>
            <a:r>
              <a:rPr lang="el-GR" sz="1400" dirty="0"/>
              <a:t> Κλάση </a:t>
            </a:r>
            <a:r>
              <a:rPr lang="en-US" sz="1400" dirty="0"/>
              <a:t>E</a:t>
            </a:r>
            <a:r>
              <a:rPr lang="el-GR" sz="1400" dirty="0"/>
              <a:t>: &lt;3.500) με επιτυχία </a:t>
            </a:r>
            <a:r>
              <a:rPr lang="el-GR" sz="1400" b="1" dirty="0"/>
              <a:t>3 στις 4 φορές</a:t>
            </a:r>
            <a:r>
              <a:rPr lang="el-GR" sz="1400" dirty="0"/>
              <a:t>.</a:t>
            </a:r>
            <a:endParaRPr lang="en-US" sz="1400" dirty="0"/>
          </a:p>
          <a:p>
            <a:pPr lvl="0"/>
            <a:r>
              <a:rPr lang="el-GR" sz="1400" dirty="0"/>
              <a:t>Αυτό επιτρέπει στη </a:t>
            </a:r>
            <a:r>
              <a:rPr lang="el-GR" sz="1400" b="1" dirty="0"/>
              <a:t>διοίκηση του αεροδρομίου </a:t>
            </a:r>
            <a:r>
              <a:rPr lang="el-GR" sz="1400" dirty="0"/>
              <a:t>να </a:t>
            </a:r>
            <a:r>
              <a:rPr lang="el-GR" sz="1400" b="1" dirty="0"/>
              <a:t>προγραμματίζει καλύτερα </a:t>
            </a:r>
            <a:r>
              <a:rPr lang="el-GR" sz="1400" dirty="0"/>
              <a:t>τους πόρους (προσωπικό ασφαλείας, καθαριότητα, λειτουργία καταστημάτων) με βάση την αναμενόμενη κίνηση, αντί να βασίζεται σε εμπειρικές εκτιμήσεις.</a:t>
            </a:r>
            <a:endParaRPr lang="en-US" sz="1400" dirty="0"/>
          </a:p>
        </p:txBody>
      </p:sp>
    </p:spTree>
    <p:extLst>
      <p:ext uri="{BB962C8B-B14F-4D97-AF65-F5344CB8AC3E}">
        <p14:creationId xmlns:p14="http://schemas.microsoft.com/office/powerpoint/2010/main" val="3025094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3300</Words>
  <Application>Microsoft Office PowerPoint</Application>
  <PresentationFormat>Widescreen</PresentationFormat>
  <Paragraphs>207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Spyros Tsl.</dc:creator>
  <cp:lastModifiedBy>Spyros Tsl.</cp:lastModifiedBy>
  <cp:revision>31</cp:revision>
  <dcterms:created xsi:type="dcterms:W3CDTF">2026-01-13T15:38:26Z</dcterms:created>
  <dcterms:modified xsi:type="dcterms:W3CDTF">2026-03-11T19:40:03Z</dcterms:modified>
</cp:coreProperties>
</file>